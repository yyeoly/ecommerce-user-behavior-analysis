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3" r:id="rId9"/>
    <p:sldId id="282" r:id="rId10"/>
    <p:sldId id="286" r:id="rId11"/>
    <p:sldId id="287" r:id="rId12"/>
    <p:sldId id="288" r:id="rId13"/>
    <p:sldId id="285" r:id="rId1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652" autoAdjust="0"/>
  </p:normalViewPr>
  <p:slideViewPr>
    <p:cSldViewPr snapToGrid="0" showGuides="1">
      <p:cViewPr>
        <p:scale>
          <a:sx n="60" d="100"/>
          <a:sy n="60" d="100"/>
        </p:scale>
        <p:origin x="180" y="60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月度净销售额（</a:t>
            </a:r>
            <a:r>
              <a:rPr lang="en-US" altLang="zh-CN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£k</a:t>
            </a:r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净销售额</c:v>
          </c:tx>
          <c:spPr>
            <a:solidFill>
              <a:srgbClr val="F9C57D"/>
            </a:solidFill>
          </c:spPr>
          <c:invertIfNegative val="1"/>
          <c:dPt>
            <c:idx val="1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1C24-4749-A0CF-4FB53D2B1B40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1C24-4749-A0CF-4FB53D2B1B40}"/>
              </c:ext>
            </c:extLst>
          </c:dPt>
          <c:dLbls>
            <c:dLbl>
              <c:idx val="4"/>
              <c:layout>
                <c:manualLayout>
                  <c:x val="1.2403100775193798E-2"/>
                  <c:y val="3.5555555555555556E-2"/>
                </c:manualLayout>
              </c:layout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875-4B07-8D10-FD050947C7C7}"/>
                </c:ext>
              </c:extLst>
            </c:dLbl>
            <c:dLbl>
              <c:idx val="6"/>
              <c:layout>
                <c:manualLayout>
                  <c:x val="1.550387596899168E-3"/>
                  <c:y val="-7.1111111111111111E-2"/>
                </c:manualLayout>
              </c:layout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875-4B07-8D10-FD050947C7C7}"/>
                </c:ext>
              </c:extLst>
            </c:dLbl>
            <c:dLbl>
              <c:idx val="8"/>
              <c:layout>
                <c:manualLayout>
                  <c:x val="-1.5503875968992248E-3"/>
                  <c:y val="-0.04"/>
                </c:manualLayout>
              </c:layout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875-4B07-8D10-FD050947C7C7}"/>
                </c:ext>
              </c:extLst>
            </c:dLbl>
            <c:dLbl>
              <c:idx val="10"/>
              <c:layout>
                <c:manualLayout>
                  <c:x val="-1.1369377703906225E-16"/>
                  <c:y val="-7.1111111111111111E-2"/>
                </c:manualLayout>
              </c:layout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875-4B07-8D10-FD050947C7C7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825" b="1">
                        <a:solidFill>
                          <a:srgbClr val="D97706"/>
                        </a:solidFill>
                      </a:rPr>
                      <a:t>£1.45M</a:t>
                    </a:r>
                  </a:p>
                </c:rich>
              </c:tx>
              <c:spPr/>
              <c:dLblPos val="outEnd"/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C24-4749-A0CF-4FB53D2B1B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Data'!$A$2:$A$14</c:f>
              <c:strCache>
                <c:ptCount val="13"/>
                <c:pt idx="0">
                  <c:v>12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12*</c:v>
                </c:pt>
              </c:strCache>
            </c:strRef>
          </c:cat>
          <c:val>
            <c:numRef>
              <c:f>'Chart Data'!$B$2:$B$14</c:f>
              <c:numCache>
                <c:formatCode>General</c:formatCode>
                <c:ptCount val="13"/>
                <c:pt idx="0">
                  <c:v>758</c:v>
                </c:pt>
                <c:pt idx="1">
                  <c:v>579</c:v>
                </c:pt>
                <c:pt idx="2">
                  <c:v>499</c:v>
                </c:pt>
                <c:pt idx="3">
                  <c:v>679</c:v>
                </c:pt>
                <c:pt idx="4">
                  <c:v>482</c:v>
                </c:pt>
                <c:pt idx="5">
                  <c:v>731</c:v>
                </c:pt>
                <c:pt idx="6">
                  <c:v>724</c:v>
                </c:pt>
                <c:pt idx="7">
                  <c:v>677</c:v>
                </c:pt>
                <c:pt idx="8">
                  <c:v>701</c:v>
                </c:pt>
                <c:pt idx="9">
                  <c:v>1011</c:v>
                </c:pt>
                <c:pt idx="10">
                  <c:v>1059</c:v>
                </c:pt>
                <c:pt idx="11">
                  <c:v>1427</c:v>
                </c:pt>
                <c:pt idx="12">
                  <c:v>440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C24-4749-A0CF-4FB53D2B1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8EE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dirty="0"/>
              <a:t>Top8</a:t>
            </a:r>
            <a:r>
              <a:rPr lang="zh-CN" altLang="en-US" sz="1600" dirty="0"/>
              <a:t>商品净销售额</a:t>
            </a:r>
            <a:endParaRPr lang="en-US" altLang="zh-CN" sz="1600" dirty="0"/>
          </a:p>
        </c:rich>
      </c:tx>
      <c:layout>
        <c:manualLayout>
          <c:xMode val="edge"/>
          <c:yMode val="edge"/>
          <c:x val="0.42262603696653045"/>
          <c:y val="6.548722625243675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8605718157630477"/>
          <c:y val="0.11417233814406623"/>
          <c:w val="0.72010568831012156"/>
          <c:h val="0.6868253881084993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net_revenue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Sheet1!$A$2:$A$12</c15:sqref>
                  </c15:fullRef>
                </c:ext>
              </c:extLst>
              <c:f>Sheet1!$A$5:$A$12</c:f>
              <c:strCache>
                <c:ptCount val="8"/>
                <c:pt idx="0">
                  <c:v>Christmas &amp; Seasonal</c:v>
                </c:pt>
                <c:pt idx="1">
                  <c:v>Textiles</c:v>
                </c:pt>
                <c:pt idx="2">
                  <c:v>Garden &amp; Outdoor</c:v>
                </c:pt>
                <c:pt idx="3">
                  <c:v>Stationery &amp; Party</c:v>
                </c:pt>
                <c:pt idx="4">
                  <c:v>Other</c:v>
                </c:pt>
                <c:pt idx="5">
                  <c:v>Home Decor &amp; Lighting</c:v>
                </c:pt>
                <c:pt idx="6">
                  <c:v>Kitchen &amp; Dining</c:v>
                </c:pt>
                <c:pt idx="7">
                  <c:v>Storage &amp; Organization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Sheet1!$B$2:$B$12</c15:sqref>
                  </c15:fullRef>
                </c:ext>
              </c:extLst>
              <c:f>Sheet1!$B$5:$B$12</c:f>
              <c:numCache>
                <c:formatCode>General</c:formatCode>
                <c:ptCount val="8"/>
                <c:pt idx="0">
                  <c:v>494501.05</c:v>
                </c:pt>
                <c:pt idx="1">
                  <c:v>504191.63</c:v>
                </c:pt>
                <c:pt idx="2">
                  <c:v>508145.4</c:v>
                </c:pt>
                <c:pt idx="3">
                  <c:v>657058.16</c:v>
                </c:pt>
                <c:pt idx="4">
                  <c:v>890412.34</c:v>
                </c:pt>
                <c:pt idx="5">
                  <c:v>1617294.58</c:v>
                </c:pt>
                <c:pt idx="6">
                  <c:v>2303600.02</c:v>
                </c:pt>
                <c:pt idx="7">
                  <c:v>2375684.67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34-4893-823D-27BE75E19D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201183936"/>
        <c:axId val="1201191296"/>
      </c:barChart>
      <c:catAx>
        <c:axId val="1201183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01191296"/>
        <c:crosses val="autoZero"/>
        <c:auto val="1"/>
        <c:lblAlgn val="ctr"/>
        <c:lblOffset val="100"/>
        <c:noMultiLvlLbl val="0"/>
      </c:catAx>
      <c:valAx>
        <c:axId val="120119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0118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类目退货率（</a:t>
            </a:r>
            <a:r>
              <a:rPr lang="en-US" altLang="zh-CN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%</a:t>
            </a:r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退货率</c:v>
          </c:tx>
          <c:spPr>
            <a:solidFill>
              <a:srgbClr val="004A7F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1F2933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Home Decor &amp; Lighting</c:v>
                </c:pt>
                <c:pt idx="1">
                  <c:v>Jewellery &amp; Accessories</c:v>
                </c:pt>
                <c:pt idx="2">
                  <c:v>Other</c:v>
                </c:pt>
                <c:pt idx="3">
                  <c:v>Kids &amp; Toys</c:v>
                </c:pt>
                <c:pt idx="4">
                  <c:v>Kitchen &amp; Dining</c:v>
                </c:pt>
                <c:pt idx="5">
                  <c:v>Stationery &amp; Party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2.2000000000000002</c:v>
                </c:pt>
                <c:pt idx="1">
                  <c:v>2.2999999999999998</c:v>
                </c:pt>
                <c:pt idx="2">
                  <c:v>2.8</c:v>
                </c:pt>
                <c:pt idx="3">
                  <c:v>3.1</c:v>
                </c:pt>
                <c:pt idx="4">
                  <c:v>6.3</c:v>
                </c:pt>
                <c:pt idx="5">
                  <c:v>21.1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22-4C90-B869-1C61FEA1C6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altLang="zh-CN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RFM </a:t>
            </a:r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分层 </a:t>
            </a:r>
            <a:r>
              <a:rPr lang="en-US" altLang="zh-CN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净销售额（</a:t>
            </a:r>
            <a:r>
              <a:rPr lang="en-US" altLang="zh-CN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£M</a:t>
            </a:r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净销售额</c:v>
          </c:tx>
          <c:spPr>
            <a:solidFill>
              <a:srgbClr val="0F766E"/>
            </a:solidFill>
          </c:spPr>
          <c:invertIfNegative val="1"/>
          <c:dLbls>
            <c:numFmt formatCode="\£0.00&quot;M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13">
                    <a:solidFill>
                      <a:srgbClr val="1F2933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Champions</c:v>
                </c:pt>
                <c:pt idx="1">
                  <c:v>Loyal Customers</c:v>
                </c:pt>
                <c:pt idx="2">
                  <c:v>Potential Loyalists</c:v>
                </c:pt>
                <c:pt idx="3">
                  <c:v>Need Attention</c:v>
                </c:pt>
                <c:pt idx="4">
                  <c:v>At Risk</c:v>
                </c:pt>
                <c:pt idx="5">
                  <c:v>Hibernating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5.46</c:v>
                </c:pt>
                <c:pt idx="1">
                  <c:v>1.31</c:v>
                </c:pt>
                <c:pt idx="2">
                  <c:v>0.21</c:v>
                </c:pt>
                <c:pt idx="3">
                  <c:v>0.11</c:v>
                </c:pt>
                <c:pt idx="4">
                  <c:v>0.83</c:v>
                </c:pt>
                <c:pt idx="5">
                  <c:v>0.35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258-4447-9621-A01F912326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国际市场 </a:t>
            </a:r>
            <a:r>
              <a:rPr lang="en-US" altLang="zh-CN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净销售额（</a:t>
            </a:r>
            <a:r>
              <a:rPr lang="en-US" altLang="zh-CN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£k</a:t>
            </a:r>
            <a:r>
              <a:rPr lang="zh-CN" altLang="en-US" sz="9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净销售额</c:v>
          </c:tx>
          <c:spPr>
            <a:solidFill>
              <a:srgbClr val="102A43"/>
            </a:solidFill>
          </c:spPr>
          <c:invertIfNegative val="1"/>
          <c:dLbls>
            <c:numFmt formatCode="\£#,##0&quot;k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13">
                    <a:solidFill>
                      <a:srgbClr val="1F2933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Spain</c:v>
                </c:pt>
                <c:pt idx="1">
                  <c:v>Switzerland</c:v>
                </c:pt>
                <c:pt idx="2">
                  <c:v>Australia</c:v>
                </c:pt>
                <c:pt idx="3">
                  <c:v>France</c:v>
                </c:pt>
                <c:pt idx="4">
                  <c:v>Germany</c:v>
                </c:pt>
                <c:pt idx="5">
                  <c:v>Ireland</c:v>
                </c:pt>
                <c:pt idx="6">
                  <c:v>Netherlands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52</c:v>
                </c:pt>
                <c:pt idx="1">
                  <c:v>52</c:v>
                </c:pt>
                <c:pt idx="2">
                  <c:v>137</c:v>
                </c:pt>
                <c:pt idx="3">
                  <c:v>182</c:v>
                </c:pt>
                <c:pt idx="4">
                  <c:v>201</c:v>
                </c:pt>
                <c:pt idx="5">
                  <c:v>259</c:v>
                </c:pt>
                <c:pt idx="6">
                  <c:v>283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475-4EA9-80FA-F8BE4A8F45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8178057-9890-4972-AD04-FE41BFE73C22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2026/10/20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74FE758-9082-4166-BA81-012291D913CB}" type="datetime1">
              <a:rPr lang="zh-CN" altLang="en-US" smtClean="0"/>
              <a:pPr/>
              <a:t>2026/10/20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E60DC36-8EFA-4378-9855-E019C55AC47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3379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0490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868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49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4230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3749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F867-BE48-2087-19AA-2E7C5D58F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34B3D-DCD0-E01A-DC82-1FCAF9CA4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AA3B23-0828-3BCA-14FA-35A53A1BF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EBE9F037-06CF-46AA-E4C9-26287B833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300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AD723-FEBF-2FD3-B001-60EA66FC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37FCC7-4A8F-49F4-60DB-A353A90DE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6A1AF5-B0E3-E694-5189-286244F23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372BF088-5546-3DDE-7884-94546A707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557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017CE-F757-FE9F-AB59-9A3A0A39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65D937-6724-B508-2147-A373028EF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8630AF-1C4D-8E88-EA4D-C1EF9A716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66330A8F-A46B-58CC-80B3-8D8181C52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77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5A31EF-B9B9-409B-BBF0-B345AB28EDB0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753A00-A173-4B35-8570-B0BE56E0F143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E2D4FE-02B9-46D7-8257-25A9AEF3A147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04CFCD-E821-4DE3-A3DD-F74C44E68C62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C2AFDC-0474-4D7D-BC9F-7654C848FF49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695206-47B0-4537-84D6-9B23D59A7E20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0DAF0E-C112-4EF2-A85A-4730A92E27B4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AA47A5-5DE6-438E-BBF1-E7F2254BE3D3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ED034B-947A-455B-BAEF-24122D8FF58E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C08C40-4C8D-4FFE-ACD0-E62DF1F5BBC0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垂直文本占位符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  <a:endParaRPr lang="zh-CN" altLang="en-US" noProof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A4F6AD-10C8-4BA0-8CFC-75631B46EB59}" type="datetime1">
              <a:rPr lang="zh-CN" altLang="en-US" noProof="0" smtClean="0"/>
              <a:t>2026/10/20</a:t>
            </a:fld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407DBA-2850-42B8-9337-287B2A36E393}" type="datetime1">
              <a:rPr lang="zh-CN" altLang="en-US" smtClean="0"/>
              <a:t>2026/10/20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6FEDF93-2BFD-41CA-ABC7-B039102F3792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yeoly/ecommerce-user-behavior-analysi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75563"/>
            <a:ext cx="9144000" cy="3323987"/>
          </a:xfrm>
        </p:spPr>
        <p:txBody>
          <a:bodyPr lIns="0" tIns="0" rIns="0" bIns="0" rtlCol="0" anchor="t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b="1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br>
              <a:rPr lang="zh-CN" alt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2000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 </a:t>
            </a:r>
            <a:r>
              <a:rPr lang="en-US" altLang="zh-CN" sz="2000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MySQL </a:t>
            </a:r>
            <a:r>
              <a:rPr lang="zh-CN" altLang="en-US" sz="2000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清洗数据，用 </a:t>
            </a:r>
            <a:r>
              <a:rPr lang="en-US" altLang="zh-CN" sz="2000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Power BI </a:t>
            </a:r>
            <a:r>
              <a:rPr lang="zh-CN" altLang="en-US" sz="2000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还原经营逻辑，</a:t>
            </a:r>
            <a:br>
              <a:rPr lang="zh-CN" altLang="en-US" sz="2000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2000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再把结论变成可执行的产品运营动作。</a:t>
            </a:r>
            <a:br>
              <a:rPr lang="en-US" altLang="zh-CN" sz="2000" dirty="0">
                <a:solidFill>
                  <a:schemeClr val="accent4"/>
                </a:solidFill>
              </a:rPr>
            </a:br>
            <a:br>
              <a:rPr lang="zh-CN" alt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 </a:t>
            </a:r>
            <a: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层数据管道</a:t>
            </a:r>
            <a:b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42 </a:t>
            </a:r>
            <a: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 </a:t>
            </a:r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Power BI </a:t>
            </a:r>
            <a: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视觉</a:t>
            </a:r>
            <a:b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 </a:t>
            </a:r>
            <a: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页分析报告</a:t>
            </a:r>
            <a:b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b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GitHub</a:t>
            </a:r>
            <a:r>
              <a:rPr lang="zh-CN" altLang="en-US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仓库地址：</a:t>
            </a:r>
            <a:r>
              <a:rPr lang="zh-CN" altLang="zh-CN" sz="1600" dirty="0">
                <a:hlinkClick r:id="rId3"/>
              </a:rPr>
              <a:t>yyeoly/ecommerce-user-behavior-analysis</a:t>
            </a:r>
            <a:endParaRPr lang="zh-CN" altLang="en-US" sz="1600" dirty="0">
              <a:solidFill>
                <a:schemeClr val="accent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菱形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7" name="组 6" descr="图表图标。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2554504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任意多边形(F)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(F)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形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标题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形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</a:p>
        </p:txBody>
      </p:sp>
      <p:sp>
        <p:nvSpPr>
          <p:cNvPr id="16" name="矩形：圆角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数据可视化</a:t>
            </a:r>
          </a:p>
        </p:txBody>
      </p:sp>
      <p:sp>
        <p:nvSpPr>
          <p:cNvPr id="15" name="椭圆形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：圆角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分析结论、业务建议</a:t>
            </a:r>
          </a:p>
        </p:txBody>
      </p:sp>
      <p:sp>
        <p:nvSpPr>
          <p:cNvPr id="22" name="椭圆形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" name="矩形：圆角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定义问题</a:t>
            </a:r>
          </a:p>
        </p:txBody>
      </p:sp>
      <p:sp>
        <p:nvSpPr>
          <p:cNvPr id="26" name="椭圆形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矩形：圆角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数据清洗</a:t>
            </a:r>
          </a:p>
        </p:txBody>
      </p:sp>
      <p:sp>
        <p:nvSpPr>
          <p:cNvPr id="30" name="椭圆形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31" name="组 30" descr="带有条形图和线状图的图标。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任意多边形(F)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" name="任意多边形(F)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4" name="任意多边形(F) 1676" descr="复选框图标。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36" name="组 35" descr="带有人类和齿轮的图标。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任意多边形(F)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(F)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42" name="任意多边形(F) 4346" descr="箱形图图标。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4695200" y="5361241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>
            <a:extLst>
              <a:ext uri="{FF2B5EF4-FFF2-40B4-BE49-F238E27FC236}">
                <a16:creationId xmlns:a16="http://schemas.microsoft.com/office/drawing/2014/main" id="{2287DE7F-E80F-FA40-6CC4-FE1A31B2D93B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87850D-8D25-D541-C860-685D8A96FDDD}"/>
              </a:ext>
            </a:extLst>
          </p:cNvPr>
          <p:cNvSpPr>
            <a:spLocks noGrp="1"/>
          </p:cNvSpPr>
          <p:nvPr/>
        </p:nvSpPr>
        <p:spPr>
          <a:xfrm>
            <a:off x="228600" y="2548009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增长来自哪里</a:t>
            </a:r>
            <a:endParaRPr sz="2000" b="1" dirty="0">
              <a:solidFill>
                <a:schemeClr val="bg2">
                  <a:lumMod val="2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E6BE21-A428-820B-0D07-6A3BD99159DD}"/>
              </a:ext>
            </a:extLst>
          </p:cNvPr>
          <p:cNvSpPr>
            <a:spLocks noGrp="1"/>
          </p:cNvSpPr>
          <p:nvPr/>
        </p:nvSpPr>
        <p:spPr>
          <a:xfrm>
            <a:off x="1112582" y="3149226"/>
            <a:ext cx="1375286" cy="17978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 err="1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哪些类目、商品、地区在拉动净销售额？增长是季节性的，还是结构性的</a:t>
            </a:r>
            <a:r>
              <a:rPr sz="2000" b="0" dirty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7BD482-649E-9FDB-AC75-47F25349831A}"/>
              </a:ext>
            </a:extLst>
          </p:cNvPr>
          <p:cNvSpPr>
            <a:spLocks noGrp="1"/>
          </p:cNvSpPr>
          <p:nvPr/>
        </p:nvSpPr>
        <p:spPr>
          <a:xfrm>
            <a:off x="4524375" y="253683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利润被什么侵蚀</a:t>
            </a:r>
            <a:endParaRPr sz="2000" b="1" dirty="0">
              <a:solidFill>
                <a:schemeClr val="bg2">
                  <a:lumMod val="2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615E6E-E726-F20C-BE35-99888DEEEB3E}"/>
              </a:ext>
            </a:extLst>
          </p:cNvPr>
          <p:cNvSpPr>
            <a:spLocks noGrp="1"/>
          </p:cNvSpPr>
          <p:nvPr/>
        </p:nvSpPr>
        <p:spPr>
          <a:xfrm>
            <a:off x="5293700" y="3149226"/>
            <a:ext cx="1641467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 err="1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退货、整单取消、零价和异常价格如何影响真实销售？哪些商品值得复核</a:t>
            </a:r>
            <a:r>
              <a:rPr sz="2000" b="0" dirty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6FA6EA-C226-6111-A101-3B2944AA34BF}"/>
              </a:ext>
            </a:extLst>
          </p:cNvPr>
          <p:cNvSpPr>
            <a:spLocks noGrp="1"/>
          </p:cNvSpPr>
          <p:nvPr/>
        </p:nvSpPr>
        <p:spPr>
          <a:xfrm>
            <a:off x="8801307" y="2563124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谁值得优先运营</a:t>
            </a:r>
            <a:endParaRPr sz="2000" b="1" dirty="0">
              <a:solidFill>
                <a:schemeClr val="bg2">
                  <a:lumMod val="2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5A7C7FF-F96D-83FC-BD13-FF3DFE37CCFA}"/>
              </a:ext>
            </a:extLst>
          </p:cNvPr>
          <p:cNvSpPr>
            <a:spLocks noGrp="1"/>
          </p:cNvSpPr>
          <p:nvPr/>
        </p:nvSpPr>
        <p:spPr>
          <a:xfrm>
            <a:off x="9740999" y="3149226"/>
            <a:ext cx="1279517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 err="1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RFM、复购率和</a:t>
            </a:r>
            <a:r>
              <a:rPr sz="2000" b="0" dirty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 cohort </a:t>
            </a:r>
            <a:r>
              <a:rPr sz="2000" b="0" dirty="0" err="1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留存显示哪些客户需要保护、召回或放弃</a:t>
            </a:r>
            <a:r>
              <a:rPr sz="2000" b="0" dirty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2BF786C-80B0-B1FB-E66E-F7D247B67774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614A8F2-67B3-12DA-E285-F9EA41F9A33B}"/>
              </a:ext>
            </a:extLst>
          </p:cNvPr>
          <p:cNvSpPr txBox="1"/>
          <p:nvPr/>
        </p:nvSpPr>
        <p:spPr>
          <a:xfrm>
            <a:off x="703744" y="1605261"/>
            <a:ext cx="10706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同一个数据集，回答不同问题需要不同的样本边界。本项目的宗旨是经营分析，因此提炼以下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大问题。</a:t>
            </a:r>
          </a:p>
          <a:p>
            <a:endParaRPr lang="zh-CN" altLang="en-US" dirty="0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565BBD20-3083-EEAB-7A93-DADABC7C01B9}"/>
              </a:ext>
            </a:extLst>
          </p:cNvPr>
          <p:cNvSpPr>
            <a:spLocks noGrp="1"/>
          </p:cNvSpPr>
          <p:nvPr/>
        </p:nvSpPr>
        <p:spPr>
          <a:xfrm>
            <a:off x="1195747" y="5941172"/>
            <a:ext cx="9415463" cy="3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C506ED9-F6B8-A567-43C8-C68A565260BF}"/>
              </a:ext>
            </a:extLst>
          </p:cNvPr>
          <p:cNvSpPr txBox="1"/>
          <p:nvPr/>
        </p:nvSpPr>
        <p:spPr>
          <a:xfrm>
            <a:off x="1592476" y="21725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01</a:t>
            </a:r>
            <a:endParaRPr lang="zh-CN" altLang="en-US" dirty="0">
              <a:latin typeface="BIZ UDMincho Medium" panose="02020500000000000000" pitchFamily="17" charset="-128"/>
              <a:ea typeface="BIZ UDMincho Medium" panose="02020500000000000000" pitchFamily="17" charset="-128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2FFDCDF-F90C-8BE7-ADFA-AE285AF39B87}"/>
              </a:ext>
            </a:extLst>
          </p:cNvPr>
          <p:cNvSpPr txBox="1"/>
          <p:nvPr/>
        </p:nvSpPr>
        <p:spPr>
          <a:xfrm>
            <a:off x="5903479" y="2190087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02</a:t>
            </a:r>
            <a:endParaRPr lang="zh-CN" altLang="en-US" dirty="0">
              <a:latin typeface="BIZ UDMincho Medium" panose="02020500000000000000" pitchFamily="17" charset="-128"/>
              <a:ea typeface="BIZ UDMincho Medium" panose="02020500000000000000" pitchFamily="17" charset="-128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7DB83A0-5A68-A252-CD34-F74E99A82D9B}"/>
              </a:ext>
            </a:extLst>
          </p:cNvPr>
          <p:cNvSpPr txBox="1"/>
          <p:nvPr/>
        </p:nvSpPr>
        <p:spPr>
          <a:xfrm>
            <a:off x="10209692" y="216356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03</a:t>
            </a:r>
            <a:endParaRPr lang="zh-CN" altLang="en-US" dirty="0">
              <a:latin typeface="BIZ UDMincho Medium" panose="02020500000000000000" pitchFamily="17" charset="-128"/>
              <a:ea typeface="BIZ UDMincho Medium" panose="02020500000000000000" pitchFamily="17" charset="-128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81E17E6-D89B-E308-B84A-E2DEDA42926D}"/>
              </a:ext>
            </a:extLst>
          </p:cNvPr>
          <p:cNvSpPr txBox="1"/>
          <p:nvPr/>
        </p:nvSpPr>
        <p:spPr>
          <a:xfrm>
            <a:off x="5204615" y="102350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一、定义问题</a:t>
            </a: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DEA5297B-58A9-1BDA-7B8A-A34F4B787A9B}"/>
              </a:ext>
            </a:extLst>
          </p:cNvPr>
          <p:cNvSpPr/>
          <p:nvPr/>
        </p:nvSpPr>
        <p:spPr>
          <a:xfrm>
            <a:off x="854765" y="3011557"/>
            <a:ext cx="1779105" cy="2400808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352C28E-A53D-296F-EC65-2B30D5107574}"/>
              </a:ext>
            </a:extLst>
          </p:cNvPr>
          <p:cNvSpPr/>
          <p:nvPr/>
        </p:nvSpPr>
        <p:spPr>
          <a:xfrm>
            <a:off x="5176836" y="3014871"/>
            <a:ext cx="1779105" cy="2400808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1FEDA8D5-204B-1A30-16DD-B2A865C8571A}"/>
              </a:ext>
            </a:extLst>
          </p:cNvPr>
          <p:cNvSpPr/>
          <p:nvPr/>
        </p:nvSpPr>
        <p:spPr>
          <a:xfrm>
            <a:off x="9483379" y="3048448"/>
            <a:ext cx="1779105" cy="2400808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形 74">
            <a:extLst>
              <a:ext uri="{FF2B5EF4-FFF2-40B4-BE49-F238E27FC236}">
                <a16:creationId xmlns:a16="http://schemas.microsoft.com/office/drawing/2014/main" id="{0AC15329-E38F-2244-2743-0010A9FDF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2755848"/>
            <a:ext cx="1979946" cy="141171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3" name="椭圆形 74">
            <a:extLst>
              <a:ext uri="{FF2B5EF4-FFF2-40B4-BE49-F238E27FC236}">
                <a16:creationId xmlns:a16="http://schemas.microsoft.com/office/drawing/2014/main" id="{92EDA3E9-C98E-BFBB-12D0-93F4E7DC3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3285" y="2754999"/>
            <a:ext cx="1979946" cy="141171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1" name="椭圆形 74">
            <a:extLst>
              <a:ext uri="{FF2B5EF4-FFF2-40B4-BE49-F238E27FC236}">
                <a16:creationId xmlns:a16="http://schemas.microsoft.com/office/drawing/2014/main" id="{6D5690CA-C052-15D5-C8DB-C65282B91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5941" y="2755000"/>
            <a:ext cx="1979946" cy="141171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标题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形 74">
            <a:extLst>
              <a:ext uri="{FF2B5EF4-FFF2-40B4-BE49-F238E27FC236}">
                <a16:creationId xmlns:a16="http://schemas.microsoft.com/office/drawing/2014/main" id="{355211EE-8286-42CD-A4AF-EDD1186B2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48507" y="2755001"/>
            <a:ext cx="1979946" cy="141171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5D84190-3628-0DD7-1D4D-773B784C203D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5F1A61-6555-845B-18B4-80FC32C2334A}"/>
              </a:ext>
            </a:extLst>
          </p:cNvPr>
          <p:cNvSpPr txBox="1"/>
          <p:nvPr/>
        </p:nvSpPr>
        <p:spPr>
          <a:xfrm>
            <a:off x="5204615" y="102350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二、数据清洗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F5D5BD-7EA0-1274-8D62-81999C823772}"/>
              </a:ext>
            </a:extLst>
          </p:cNvPr>
          <p:cNvSpPr>
            <a:spLocks noGrp="1"/>
          </p:cNvSpPr>
          <p:nvPr/>
        </p:nvSpPr>
        <p:spPr>
          <a:xfrm>
            <a:off x="849119" y="3012143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Raw CSV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4B062C-1AAE-7A20-5F60-70714908E6EE}"/>
              </a:ext>
            </a:extLst>
          </p:cNvPr>
          <p:cNvSpPr>
            <a:spLocks noGrp="1"/>
          </p:cNvSpPr>
          <p:nvPr/>
        </p:nvSpPr>
        <p:spPr>
          <a:xfrm>
            <a:off x="266073" y="3516996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541,909 行</a:t>
            </a:r>
          </a:p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8 </a:t>
            </a:r>
            <a:r>
              <a:rPr sz="12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个字段</a:t>
            </a:r>
            <a:endParaRPr sz="1200" b="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DE75EA-AAA5-D25B-1575-42F9BBF36A33}"/>
              </a:ext>
            </a:extLst>
          </p:cNvPr>
          <p:cNvSpPr>
            <a:spLocks noGrp="1"/>
          </p:cNvSpPr>
          <p:nvPr/>
        </p:nvSpPr>
        <p:spPr>
          <a:xfrm>
            <a:off x="3212222" y="30114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Staging</a:t>
            </a:r>
            <a:endParaRPr sz="1425" b="1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4AFEDB-943D-8993-1FBF-F51999A43139}"/>
              </a:ext>
            </a:extLst>
          </p:cNvPr>
          <p:cNvSpPr>
            <a:spLocks noGrp="1"/>
          </p:cNvSpPr>
          <p:nvPr/>
        </p:nvSpPr>
        <p:spPr>
          <a:xfrm>
            <a:off x="2680758" y="3515916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全部按文本落地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保留</a:t>
            </a:r>
            <a:r>
              <a:rPr sz="11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source_row_id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8BFF84-D1F3-FC7F-CEA0-459C3C64D50A}"/>
              </a:ext>
            </a:extLst>
          </p:cNvPr>
          <p:cNvSpPr>
            <a:spLocks noGrp="1"/>
          </p:cNvSpPr>
          <p:nvPr/>
        </p:nvSpPr>
        <p:spPr>
          <a:xfrm>
            <a:off x="5263597" y="3046391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Clean + Flags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B97155-7118-0276-7BC1-F553B3608D92}"/>
              </a:ext>
            </a:extLst>
          </p:cNvPr>
          <p:cNvSpPr>
            <a:spLocks noGrp="1"/>
          </p:cNvSpPr>
          <p:nvPr/>
        </p:nvSpPr>
        <p:spPr>
          <a:xfrm>
            <a:off x="4927925" y="3535157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标准化、去重标记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is_* </a:t>
            </a:r>
            <a:r>
              <a:rPr sz="12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质量字段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" name="椭圆形 74">
            <a:extLst>
              <a:ext uri="{FF2B5EF4-FFF2-40B4-BE49-F238E27FC236}">
                <a16:creationId xmlns:a16="http://schemas.microsoft.com/office/drawing/2014/main" id="{3036D346-172C-8D03-D3A7-C8AB61B44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7555" y="2750634"/>
            <a:ext cx="1979946" cy="141171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3102B97-CB61-F70D-9B9E-75D7FEA6AFB8}"/>
              </a:ext>
            </a:extLst>
          </p:cNvPr>
          <p:cNvSpPr>
            <a:spLocks noGrp="1"/>
          </p:cNvSpPr>
          <p:nvPr/>
        </p:nvSpPr>
        <p:spPr>
          <a:xfrm>
            <a:off x="7649609" y="3046391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Star Schema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0D648E-9627-B69E-E097-09812FAD249C}"/>
              </a:ext>
            </a:extLst>
          </p:cNvPr>
          <p:cNvSpPr>
            <a:spLocks noGrp="1"/>
          </p:cNvSpPr>
          <p:nvPr/>
        </p:nvSpPr>
        <p:spPr>
          <a:xfrm>
            <a:off x="7283153" y="3545096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1 </a:t>
            </a:r>
            <a:r>
              <a:rPr sz="11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张事实表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sz="1100" b="0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张维度表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3D08C7D-B02A-B694-AA8E-BC7C36830260}"/>
              </a:ext>
            </a:extLst>
          </p:cNvPr>
          <p:cNvSpPr>
            <a:spLocks noGrp="1"/>
          </p:cNvSpPr>
          <p:nvPr/>
        </p:nvSpPr>
        <p:spPr>
          <a:xfrm>
            <a:off x="10106610" y="3012143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Aggregates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5275742-B7D3-7EDF-7AE2-B7CD729DAE0A}"/>
              </a:ext>
            </a:extLst>
          </p:cNvPr>
          <p:cNvSpPr>
            <a:spLocks noGrp="1"/>
          </p:cNvSpPr>
          <p:nvPr/>
        </p:nvSpPr>
        <p:spPr>
          <a:xfrm>
            <a:off x="9685980" y="3515916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22 个 CSV</a:t>
            </a:r>
          </a:p>
          <a:p>
            <a:pPr algn="ctr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5 页 Power BI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64A7833-1DC9-23D3-DC2B-9850087412C4}"/>
              </a:ext>
            </a:extLst>
          </p:cNvPr>
          <p:cNvSpPr txBox="1"/>
          <p:nvPr/>
        </p:nvSpPr>
        <p:spPr>
          <a:xfrm>
            <a:off x="665886" y="2097004"/>
            <a:ext cx="610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/>
              <a:t>原始文件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B8EB227-5569-508F-F729-0BF2456582A7}"/>
              </a:ext>
            </a:extLst>
          </p:cNvPr>
          <p:cNvSpPr txBox="1"/>
          <p:nvPr/>
        </p:nvSpPr>
        <p:spPr>
          <a:xfrm>
            <a:off x="2970315" y="2097004"/>
            <a:ext cx="610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原始落地层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DCD2BC2-D09E-B8D7-68BC-962984ED068C}"/>
              </a:ext>
            </a:extLst>
          </p:cNvPr>
          <p:cNvSpPr txBox="1"/>
          <p:nvPr/>
        </p:nvSpPr>
        <p:spPr>
          <a:xfrm>
            <a:off x="5156929" y="2091275"/>
            <a:ext cx="610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清洗与标记层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E576EAA-B93A-3E8D-E1AD-481FD37445F1}"/>
              </a:ext>
            </a:extLst>
          </p:cNvPr>
          <p:cNvSpPr txBox="1"/>
          <p:nvPr/>
        </p:nvSpPr>
        <p:spPr>
          <a:xfrm>
            <a:off x="7719182" y="2085188"/>
            <a:ext cx="6107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星型模型</a:t>
            </a:r>
            <a:endParaRPr lang="en-US" altLang="zh-CN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A67A89D-BF8A-FD9B-A679-33153D49746C}"/>
              </a:ext>
            </a:extLst>
          </p:cNvPr>
          <p:cNvSpPr txBox="1"/>
          <p:nvPr/>
        </p:nvSpPr>
        <p:spPr>
          <a:xfrm>
            <a:off x="9822369" y="2097004"/>
            <a:ext cx="6897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聚合与展示层</a:t>
            </a:r>
            <a:endParaRPr lang="zh-CN" altLang="en-US" dirty="0"/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62D684CE-5B63-0CEB-25C8-587D1BBD3921}"/>
              </a:ext>
            </a:extLst>
          </p:cNvPr>
          <p:cNvCxnSpPr/>
          <p:nvPr/>
        </p:nvCxnSpPr>
        <p:spPr>
          <a:xfrm>
            <a:off x="1846371" y="2269854"/>
            <a:ext cx="1023517" cy="1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35776FE-F1CD-4A33-2296-FBD299358EC1}"/>
              </a:ext>
            </a:extLst>
          </p:cNvPr>
          <p:cNvCxnSpPr/>
          <p:nvPr/>
        </p:nvCxnSpPr>
        <p:spPr>
          <a:xfrm>
            <a:off x="4321001" y="2269854"/>
            <a:ext cx="835928" cy="1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E5678B0-C263-348F-1827-2EF678500014}"/>
              </a:ext>
            </a:extLst>
          </p:cNvPr>
          <p:cNvCxnSpPr>
            <a:cxnSpLocks/>
            <a:endCxn id="63" idx="1"/>
          </p:cNvCxnSpPr>
          <p:nvPr/>
        </p:nvCxnSpPr>
        <p:spPr>
          <a:xfrm flipV="1">
            <a:off x="6773480" y="2269854"/>
            <a:ext cx="945702" cy="1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7ACE641-D17A-29BA-5251-578BFE4ECEBF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8869869" y="2281670"/>
            <a:ext cx="952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DD3CF66E-84CE-506C-5F28-707F1CEDF245}"/>
              </a:ext>
            </a:extLst>
          </p:cNvPr>
          <p:cNvSpPr txBox="1"/>
          <p:nvPr/>
        </p:nvSpPr>
        <p:spPr>
          <a:xfrm>
            <a:off x="5199206" y="1427192"/>
            <a:ext cx="1929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（五层数据管道）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C87DEBE-9990-4D67-EE54-D9318962F560}"/>
              </a:ext>
            </a:extLst>
          </p:cNvPr>
          <p:cNvSpPr txBox="1"/>
          <p:nvPr/>
        </p:nvSpPr>
        <p:spPr>
          <a:xfrm>
            <a:off x="7467049" y="241977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（事实与维度表）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108B320-A52A-DD18-11BE-C54303B54E1B}"/>
              </a:ext>
            </a:extLst>
          </p:cNvPr>
          <p:cNvSpPr txBox="1"/>
          <p:nvPr/>
        </p:nvSpPr>
        <p:spPr>
          <a:xfrm>
            <a:off x="2754119" y="2430727"/>
            <a:ext cx="18582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（</a:t>
            </a:r>
            <a:r>
              <a:rPr lang="en-US" altLang="zh-CN" sz="1400" dirty="0"/>
              <a:t>Csv</a:t>
            </a:r>
            <a:r>
              <a:rPr lang="zh-CN" altLang="en-US" sz="1400" dirty="0"/>
              <a:t>文件→</a:t>
            </a:r>
            <a:r>
              <a:rPr lang="en-US" altLang="zh-CN" sz="1400" dirty="0"/>
              <a:t>MySQL</a:t>
            </a:r>
            <a:r>
              <a:rPr lang="zh-CN" altLang="en-US" sz="1400" dirty="0"/>
              <a:t>）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BC8052D-0197-7D5A-AF1F-1A12832704B7}"/>
              </a:ext>
            </a:extLst>
          </p:cNvPr>
          <p:cNvSpPr txBox="1"/>
          <p:nvPr/>
        </p:nvSpPr>
        <p:spPr>
          <a:xfrm>
            <a:off x="9998122" y="2391181"/>
            <a:ext cx="1192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（</a:t>
            </a:r>
            <a:r>
              <a:rPr lang="en-US" altLang="zh-CN" sz="1400" dirty="0"/>
              <a:t>Power bi</a:t>
            </a:r>
            <a:r>
              <a:rPr lang="zh-CN" altLang="en-US" sz="1400" dirty="0"/>
              <a:t>）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99A11E3-D054-EC15-5B86-EB8A44D0D2DD}"/>
              </a:ext>
            </a:extLst>
          </p:cNvPr>
          <p:cNvSpPr>
            <a:spLocks noGrp="1"/>
          </p:cNvSpPr>
          <p:nvPr/>
        </p:nvSpPr>
        <p:spPr>
          <a:xfrm>
            <a:off x="547785" y="4981771"/>
            <a:ext cx="2095500" cy="448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75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latin typeface="Microsoft YaHei"/>
                <a:ea typeface="Microsoft YaHei"/>
                <a:cs typeface="Microsoft YaHei"/>
              </a:rPr>
              <a:t>核心原则</a:t>
            </a:r>
            <a:endParaRPr sz="2000" b="1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E38F3EE9-F7B4-0CE0-BB19-B93D50B001EC}"/>
              </a:ext>
            </a:extLst>
          </p:cNvPr>
          <p:cNvSpPr>
            <a:spLocks noGrp="1"/>
          </p:cNvSpPr>
          <p:nvPr/>
        </p:nvSpPr>
        <p:spPr>
          <a:xfrm>
            <a:off x="665886" y="5430808"/>
            <a:ext cx="11297514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marL="228600" indent="-114300">
              <a:spcAft>
                <a:spcPts val="800"/>
              </a:spcAft>
              <a:buChar char="•"/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latin typeface="Microsoft YaHei"/>
                <a:ea typeface="Microsoft YaHei"/>
                <a:cs typeface="Microsoft YaHei"/>
              </a:rPr>
              <a:t>原始层不改值：先保留，再解释</a:t>
            </a:r>
            <a:r>
              <a:rPr sz="1600"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228600" indent="-114300">
              <a:spcAft>
                <a:spcPts val="800"/>
              </a:spcAft>
              <a:buChar char="•"/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latin typeface="Microsoft YaHei"/>
                <a:ea typeface="Microsoft YaHei"/>
                <a:cs typeface="Microsoft YaHei"/>
              </a:rPr>
              <a:t>清洗层不删行：用</a:t>
            </a:r>
            <a:r>
              <a:rPr sz="1600" dirty="0">
                <a:latin typeface="Microsoft YaHei"/>
                <a:ea typeface="Microsoft YaHei"/>
                <a:cs typeface="Microsoft YaHei"/>
              </a:rPr>
              <a:t> </a:t>
            </a:r>
            <a:r>
              <a:rPr sz="1600" dirty="0" err="1">
                <a:latin typeface="Microsoft YaHei"/>
                <a:ea typeface="Microsoft YaHei"/>
                <a:cs typeface="Microsoft YaHei"/>
              </a:rPr>
              <a:t>is_duplicate、is_cancellation、is_product</a:t>
            </a:r>
            <a:r>
              <a:rPr sz="1600" dirty="0">
                <a:latin typeface="Microsoft YaHei"/>
                <a:ea typeface="Microsoft YaHei"/>
                <a:cs typeface="Microsoft YaHei"/>
              </a:rPr>
              <a:t> </a:t>
            </a:r>
            <a:r>
              <a:rPr sz="1600" dirty="0" err="1">
                <a:latin typeface="Microsoft YaHei"/>
                <a:ea typeface="Microsoft YaHei"/>
                <a:cs typeface="Microsoft YaHei"/>
              </a:rPr>
              <a:t>等字段标记</a:t>
            </a:r>
            <a:r>
              <a:rPr sz="1600"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228600" indent="-114300">
              <a:spcAft>
                <a:spcPts val="800"/>
              </a:spcAft>
              <a:buChar char="•"/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latin typeface="Microsoft YaHei"/>
                <a:ea typeface="Microsoft YaHei"/>
                <a:cs typeface="Microsoft YaHei"/>
              </a:rPr>
              <a:t>分析层明确口径：总销售、商品销售、客户销售、退货分别取不同样本</a:t>
            </a:r>
            <a:r>
              <a:rPr sz="1600"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36C5071-61FF-D9D2-8D89-A338ABE9619E}"/>
              </a:ext>
            </a:extLst>
          </p:cNvPr>
          <p:cNvSpPr>
            <a:spLocks noGrp="1"/>
          </p:cNvSpPr>
          <p:nvPr/>
        </p:nvSpPr>
        <p:spPr>
          <a:xfrm>
            <a:off x="1193517" y="4551387"/>
            <a:ext cx="9415463" cy="3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F0D0CBAA-5B49-F33F-49B3-067BCD7BD41C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FE51E9-D51F-4720-B7E4-A87D96679914}"/>
              </a:ext>
            </a:extLst>
          </p:cNvPr>
          <p:cNvSpPr txBox="1"/>
          <p:nvPr/>
        </p:nvSpPr>
        <p:spPr>
          <a:xfrm>
            <a:off x="5204615" y="1023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三、数据可视化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EDB431-0CCC-3F2F-F798-0F349BFBA028}"/>
              </a:ext>
            </a:extLst>
          </p:cNvPr>
          <p:cNvSpPr txBox="1"/>
          <p:nvPr/>
        </p:nvSpPr>
        <p:spPr>
          <a:xfrm>
            <a:off x="2679916" y="1496839"/>
            <a:ext cx="702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详细数据可视面板见文件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online retail 2010-2011 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销售分析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pbix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5E7439-BB51-0E09-34E8-1B4F8513E0EE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AD6511F-986B-E723-51EF-6E5C6D78B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70094"/>
              </p:ext>
            </p:extLst>
          </p:nvPr>
        </p:nvGraphicFramePr>
        <p:xfrm>
          <a:off x="466725" y="2906103"/>
          <a:ext cx="7239000" cy="3428999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326305464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10461237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1789011877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数量 / 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处理方式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9902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t>重复行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5,270 / 0.97%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仅保留首次出现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32020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t>缺失客户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135,080 / 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保留总销售，客户分析排除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73299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t>取消 / 退货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9,288 / 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保留负向流水，单独算退货率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93583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t>零价 / 负价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2,521 / 0.47%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不进入销售额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54611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t>非商品 / 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2,960 / 0.55%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商品分析时排除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8452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t>缺失描述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1,454 / 0.27%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同编码最常见描述补全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14171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5091EC6-64B0-4993-D565-3974F418EBC7}"/>
              </a:ext>
            </a:extLst>
          </p:cNvPr>
          <p:cNvSpPr txBox="1"/>
          <p:nvPr/>
        </p:nvSpPr>
        <p:spPr>
          <a:xfrm>
            <a:off x="417079" y="2280976"/>
            <a:ext cx="1558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、数据质量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7DC92C-5593-A890-1751-0851E7716552}"/>
              </a:ext>
            </a:extLst>
          </p:cNvPr>
          <p:cNvSpPr>
            <a:spLocks noGrp="1"/>
          </p:cNvSpPr>
          <p:nvPr/>
        </p:nvSpPr>
        <p:spPr>
          <a:xfrm>
            <a:off x="8105775" y="3018011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有效样本</a:t>
            </a:r>
            <a:endParaRPr sz="1400" b="1" dirty="0">
              <a:solidFill>
                <a:schemeClr val="accent5">
                  <a:lumMod val="7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FBD910-BEC2-3650-1E24-A169E3F8F8A3}"/>
              </a:ext>
            </a:extLst>
          </p:cNvPr>
          <p:cNvSpPr>
            <a:spLocks noGrp="1"/>
          </p:cNvSpPr>
          <p:nvPr/>
        </p:nvSpPr>
        <p:spPr>
          <a:xfrm>
            <a:off x="8105775" y="3399011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522,535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B01220-1EF7-65D3-A380-EE7DEF8CAFA9}"/>
              </a:ext>
            </a:extLst>
          </p:cNvPr>
          <p:cNvSpPr>
            <a:spLocks noGrp="1"/>
          </p:cNvSpPr>
          <p:nvPr/>
        </p:nvSpPr>
        <p:spPr>
          <a:xfrm>
            <a:off x="8105775" y="3799061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有效商品销售行</a:t>
            </a:r>
            <a:endParaRPr sz="1400" b="0" dirty="0">
              <a:solidFill>
                <a:srgbClr val="526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92ADA2-1125-54AB-7EE7-C0551C3A373E}"/>
              </a:ext>
            </a:extLst>
          </p:cNvPr>
          <p:cNvSpPr>
            <a:spLocks noGrp="1"/>
          </p:cNvSpPr>
          <p:nvPr/>
        </p:nvSpPr>
        <p:spPr>
          <a:xfrm>
            <a:off x="8105775" y="4218161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391,148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1EEAF8-5033-27B2-93C0-C852C91AA8AE}"/>
              </a:ext>
            </a:extLst>
          </p:cNvPr>
          <p:cNvSpPr>
            <a:spLocks noGrp="1"/>
          </p:cNvSpPr>
          <p:nvPr/>
        </p:nvSpPr>
        <p:spPr>
          <a:xfrm>
            <a:off x="8105775" y="4618211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可归属客户的商品销售行</a:t>
            </a:r>
            <a:endParaRPr sz="1400" b="0" dirty="0">
              <a:solidFill>
                <a:srgbClr val="526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DCEAA0-8ADA-593C-86D9-3C8B368D1A25}"/>
              </a:ext>
            </a:extLst>
          </p:cNvPr>
          <p:cNvSpPr>
            <a:spLocks noGrp="1"/>
          </p:cNvSpPr>
          <p:nvPr/>
        </p:nvSpPr>
        <p:spPr>
          <a:xfrm>
            <a:off x="8105775" y="5037311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24.25%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A2EB73-41AD-5752-59F9-2DE0011875AC}"/>
              </a:ext>
            </a:extLst>
          </p:cNvPr>
          <p:cNvSpPr>
            <a:spLocks noGrp="1"/>
          </p:cNvSpPr>
          <p:nvPr/>
        </p:nvSpPr>
        <p:spPr>
          <a:xfrm>
            <a:off x="8105775" y="5361161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匿名商品销售行占比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06B331-9DC4-3A3C-08E5-1D8B6B993D97}"/>
              </a:ext>
            </a:extLst>
          </p:cNvPr>
          <p:cNvSpPr>
            <a:spLocks noGrp="1"/>
          </p:cNvSpPr>
          <p:nvPr/>
        </p:nvSpPr>
        <p:spPr>
          <a:xfrm>
            <a:off x="8105775" y="5820233"/>
            <a:ext cx="4575175" cy="3391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客户指标只覆盖可识别客户</a:t>
            </a:r>
            <a:r>
              <a:rPr sz="1400" b="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lang="en-US" sz="1400" b="0" dirty="0">
              <a:solidFill>
                <a:srgbClr val="1F29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匿名交易仍进入总销售额，因此两套数字不能混用</a:t>
            </a:r>
            <a:r>
              <a:rPr sz="1400" b="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42F4E527-EE1C-DF8F-761D-AB59B5BB2807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74257A-AFE7-39B4-1408-7DA958685BB8}"/>
              </a:ext>
            </a:extLst>
          </p:cNvPr>
          <p:cNvSpPr txBox="1"/>
          <p:nvPr/>
        </p:nvSpPr>
        <p:spPr>
          <a:xfrm>
            <a:off x="5204615" y="1023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三、数据可视化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A89BF7-D5E2-1B79-1F4F-3FF821063D24}"/>
              </a:ext>
            </a:extLst>
          </p:cNvPr>
          <p:cNvSpPr txBox="1"/>
          <p:nvPr/>
        </p:nvSpPr>
        <p:spPr>
          <a:xfrm>
            <a:off x="2679916" y="1496839"/>
            <a:ext cx="702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详细数据可视面板见文件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online retail 2010-2011 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销售分析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pbix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716C40-5B49-A02B-0D27-FD6E8A3A4BDE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D1F9249-E131-8422-3CEE-D450BEC6938A}"/>
              </a:ext>
            </a:extLst>
          </p:cNvPr>
          <p:cNvSpPr txBox="1"/>
          <p:nvPr/>
        </p:nvSpPr>
        <p:spPr>
          <a:xfrm>
            <a:off x="417079" y="2280976"/>
            <a:ext cx="1598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zh-CN" altLang="zh-CN" sz="2000" dirty="0"/>
              <a:t>经营总览</a:t>
            </a:r>
            <a:endParaRPr lang="zh-CN" altLang="en-US" sz="20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84394D-3699-8C36-B870-EF8D60EDBE88}"/>
              </a:ext>
            </a:extLst>
          </p:cNvPr>
          <p:cNvSpPr>
            <a:spLocks noGrp="1"/>
          </p:cNvSpPr>
          <p:nvPr/>
        </p:nvSpPr>
        <p:spPr>
          <a:xfrm>
            <a:off x="584407" y="2681086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£10.25</a:t>
            </a:r>
            <a:r>
              <a:rPr lang="zh-CN" altLang="en-US" sz="285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百万</a:t>
            </a:r>
            <a:endParaRPr sz="285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AAC8CC-E4B9-37C8-3674-D13811E27568}"/>
              </a:ext>
            </a:extLst>
          </p:cNvPr>
          <p:cNvSpPr>
            <a:spLocks noGrp="1"/>
          </p:cNvSpPr>
          <p:nvPr/>
        </p:nvSpPr>
        <p:spPr>
          <a:xfrm>
            <a:off x="584407" y="3157336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毛商品销售额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97C41A-FDDE-05F5-5B0D-015606C85610}"/>
              </a:ext>
            </a:extLst>
          </p:cNvPr>
          <p:cNvSpPr>
            <a:spLocks noGrp="1"/>
          </p:cNvSpPr>
          <p:nvPr/>
        </p:nvSpPr>
        <p:spPr>
          <a:xfrm>
            <a:off x="3308557" y="2681086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£9.77</a:t>
            </a:r>
            <a:r>
              <a:rPr lang="zh-CN" altLang="en-US" sz="285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百万</a:t>
            </a:r>
            <a:endParaRPr sz="2850" b="1" dirty="0">
              <a:solidFill>
                <a:srgbClr val="0F766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CBCE4B-9B08-1CC2-AB67-CFEC2AF71CA1}"/>
              </a:ext>
            </a:extLst>
          </p:cNvPr>
          <p:cNvSpPr>
            <a:spLocks noGrp="1"/>
          </p:cNvSpPr>
          <p:nvPr/>
        </p:nvSpPr>
        <p:spPr>
          <a:xfrm>
            <a:off x="3308557" y="3157336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净商品销售额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1A6D0D-6925-9D13-3369-C07D36DDE93C}"/>
              </a:ext>
            </a:extLst>
          </p:cNvPr>
          <p:cNvSpPr>
            <a:spLocks noGrp="1"/>
          </p:cNvSpPr>
          <p:nvPr/>
        </p:nvSpPr>
        <p:spPr>
          <a:xfrm>
            <a:off x="6032707" y="2681086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19,773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8E3BE77-CF21-8B55-2AF0-E4A1C06D4349}"/>
              </a:ext>
            </a:extLst>
          </p:cNvPr>
          <p:cNvSpPr>
            <a:spLocks noGrp="1"/>
          </p:cNvSpPr>
          <p:nvPr/>
        </p:nvSpPr>
        <p:spPr>
          <a:xfrm>
            <a:off x="6032707" y="3157336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订单数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FCC588-BD48-94D5-7C4E-BD8D7FD0CF17}"/>
              </a:ext>
            </a:extLst>
          </p:cNvPr>
          <p:cNvSpPr>
            <a:spLocks noGrp="1"/>
          </p:cNvSpPr>
          <p:nvPr/>
        </p:nvSpPr>
        <p:spPr>
          <a:xfrm>
            <a:off x="8756857" y="2681086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4,334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134A77-8A76-CE4D-0F8C-0B9535DE3B67}"/>
              </a:ext>
            </a:extLst>
          </p:cNvPr>
          <p:cNvSpPr>
            <a:spLocks noGrp="1"/>
          </p:cNvSpPr>
          <p:nvPr/>
        </p:nvSpPr>
        <p:spPr>
          <a:xfrm>
            <a:off x="8756857" y="3157336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可识别客户数</a:t>
            </a:r>
          </a:p>
        </p:txBody>
      </p:sp>
      <p:graphicFrame>
        <p:nvGraphicFramePr>
          <p:cNvPr id="47" name="Chart">
            <a:extLst>
              <a:ext uri="{FF2B5EF4-FFF2-40B4-BE49-F238E27FC236}">
                <a16:creationId xmlns:a16="http://schemas.microsoft.com/office/drawing/2014/main" id="{A6338468-6414-CFA0-4399-31FE29595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4785872"/>
              </p:ext>
            </p:extLst>
          </p:nvPr>
        </p:nvGraphicFramePr>
        <p:xfrm>
          <a:off x="565357" y="3604573"/>
          <a:ext cx="8191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66B3B03-033D-2185-AF70-FE49588D00DE}"/>
              </a:ext>
            </a:extLst>
          </p:cNvPr>
          <p:cNvSpPr>
            <a:spLocks noGrp="1"/>
          </p:cNvSpPr>
          <p:nvPr/>
        </p:nvSpPr>
        <p:spPr>
          <a:xfrm>
            <a:off x="9080707" y="3595486"/>
            <a:ext cx="2476500" cy="2857500"/>
          </a:xfrm>
          <a:prstGeom prst="roundRect">
            <a:avLst>
              <a:gd name="adj" fmla="val 4615"/>
            </a:avLst>
          </a:prstGeom>
          <a:solidFill>
            <a:schemeClr val="accent5">
              <a:lumMod val="20000"/>
              <a:lumOff val="80000"/>
            </a:schemeClr>
          </a:solidFill>
          <a:ln w="0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6DB035-A324-B6DB-0D3C-765AC4F04DA3}"/>
              </a:ext>
            </a:extLst>
          </p:cNvPr>
          <p:cNvSpPr>
            <a:spLocks noGrp="1"/>
          </p:cNvSpPr>
          <p:nvPr/>
        </p:nvSpPr>
        <p:spPr>
          <a:xfrm>
            <a:off x="9309307" y="3805036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读数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B9FD44D-A8DA-DBCE-1690-7666877BBDAE}"/>
              </a:ext>
            </a:extLst>
          </p:cNvPr>
          <p:cNvSpPr>
            <a:spLocks noGrp="1"/>
          </p:cNvSpPr>
          <p:nvPr/>
        </p:nvSpPr>
        <p:spPr>
          <a:xfrm>
            <a:off x="9309307" y="4166986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£518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60FF101-D621-6BA5-E13F-C2A73055D505}"/>
              </a:ext>
            </a:extLst>
          </p:cNvPr>
          <p:cNvSpPr>
            <a:spLocks noGrp="1"/>
          </p:cNvSpPr>
          <p:nvPr/>
        </p:nvSpPr>
        <p:spPr>
          <a:xfrm>
            <a:off x="9309307" y="4547986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平均客单价</a:t>
            </a:r>
            <a:endParaRPr sz="1000" b="0" dirty="0">
              <a:solidFill>
                <a:srgbClr val="526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4E2F8D4-836D-CCFB-E21F-15C10208A38D}"/>
              </a:ext>
            </a:extLst>
          </p:cNvPr>
          <p:cNvSpPr>
            <a:spLocks noGrp="1"/>
          </p:cNvSpPr>
          <p:nvPr/>
        </p:nvSpPr>
        <p:spPr>
          <a:xfrm>
            <a:off x="9309307" y="4909936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£302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14B4371-9E60-5EE3-E502-2F004E8CE92F}"/>
              </a:ext>
            </a:extLst>
          </p:cNvPr>
          <p:cNvSpPr>
            <a:spLocks noGrp="1"/>
          </p:cNvSpPr>
          <p:nvPr/>
        </p:nvSpPr>
        <p:spPr>
          <a:xfrm>
            <a:off x="9309307" y="5290936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客单价中位数</a:t>
            </a:r>
            <a:endParaRPr sz="1000" b="0" dirty="0">
              <a:solidFill>
                <a:srgbClr val="526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CBF1C5F-09D2-7962-2B98-A9F85784F44D}"/>
              </a:ext>
            </a:extLst>
          </p:cNvPr>
          <p:cNvSpPr>
            <a:spLocks noGrp="1"/>
          </p:cNvSpPr>
          <p:nvPr/>
        </p:nvSpPr>
        <p:spPr>
          <a:xfrm>
            <a:off x="9309307" y="5671936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8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均值被批发大单拉高</a:t>
            </a:r>
            <a:r>
              <a:rPr sz="1000" b="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defRPr sz="8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中位数更接近典型订单</a:t>
            </a:r>
            <a:r>
              <a:rPr sz="1000" b="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DC6A209-1D48-0567-B040-6F8F96549308}"/>
              </a:ext>
            </a:extLst>
          </p:cNvPr>
          <p:cNvSpPr txBox="1"/>
          <p:nvPr/>
        </p:nvSpPr>
        <p:spPr>
          <a:xfrm>
            <a:off x="417079" y="6404587"/>
            <a:ext cx="6054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2011-11 </a:t>
            </a:r>
            <a:r>
              <a:rPr lang="zh-CN" altLang="en-US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毛销售额 </a:t>
            </a:r>
            <a:r>
              <a:rPr lang="en-US" altLang="zh-CN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£1.45M</a:t>
            </a:r>
            <a:r>
              <a:rPr lang="zh-CN" altLang="en-US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，是完整月份峰值。</a:t>
            </a:r>
            <a:r>
              <a:rPr lang="en-US" altLang="zh-CN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2011-12 </a:t>
            </a:r>
            <a:r>
              <a:rPr lang="zh-CN" altLang="en-US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只有 </a:t>
            </a:r>
            <a:r>
              <a:rPr lang="en-US" altLang="zh-CN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9 </a:t>
            </a:r>
            <a:r>
              <a:rPr lang="zh-CN" altLang="en-US" sz="12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天，不能直接比较。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DD406998-5EDD-CB94-71C6-1AFDAA24B77E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16B042-E869-2BB6-2A40-DF89E9EE4B69}"/>
              </a:ext>
            </a:extLst>
          </p:cNvPr>
          <p:cNvSpPr txBox="1"/>
          <p:nvPr/>
        </p:nvSpPr>
        <p:spPr>
          <a:xfrm>
            <a:off x="5204615" y="1023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三、数据可视化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8AD65D-C3E9-5703-BE89-AF7E0A4C524C}"/>
              </a:ext>
            </a:extLst>
          </p:cNvPr>
          <p:cNvSpPr txBox="1"/>
          <p:nvPr/>
        </p:nvSpPr>
        <p:spPr>
          <a:xfrm>
            <a:off x="2679916" y="1496839"/>
            <a:ext cx="702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详细数据可视面板见文件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online retail 2010-2011 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销售分析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pbix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31024A-2C9B-CFB0-E9D5-909C96CE978B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230369-BC56-F656-7B2D-2DBA67B53667}"/>
              </a:ext>
            </a:extLst>
          </p:cNvPr>
          <p:cNvSpPr txBox="1"/>
          <p:nvPr/>
        </p:nvSpPr>
        <p:spPr>
          <a:xfrm>
            <a:off x="417079" y="2280976"/>
            <a:ext cx="1598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zh-CN" altLang="zh-CN" sz="2000" dirty="0"/>
              <a:t>商品结构</a:t>
            </a:r>
            <a:endParaRPr lang="zh-CN" altLang="en-US" sz="2000" dirty="0"/>
          </a:p>
        </p:txBody>
      </p:sp>
      <p:graphicFrame>
        <p:nvGraphicFramePr>
          <p:cNvPr id="24" name="图表 23">
            <a:extLst>
              <a:ext uri="{FF2B5EF4-FFF2-40B4-BE49-F238E27FC236}">
                <a16:creationId xmlns:a16="http://schemas.microsoft.com/office/drawing/2014/main" id="{DD82644A-7403-8A91-A45C-5D9B1C4D0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4801555"/>
              </p:ext>
            </p:extLst>
          </p:nvPr>
        </p:nvGraphicFramePr>
        <p:xfrm>
          <a:off x="417079" y="2745854"/>
          <a:ext cx="8003907" cy="358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C819D39-7C82-C3E0-D132-CDCF4DF3DDA1}"/>
              </a:ext>
            </a:extLst>
          </p:cNvPr>
          <p:cNvSpPr>
            <a:spLocks noGrp="1"/>
          </p:cNvSpPr>
          <p:nvPr/>
        </p:nvSpPr>
        <p:spPr>
          <a:xfrm>
            <a:off x="8420986" y="2597387"/>
            <a:ext cx="3105150" cy="2247900"/>
          </a:xfrm>
          <a:prstGeom prst="roundRect">
            <a:avLst>
              <a:gd name="adj" fmla="val 5085"/>
            </a:avLst>
          </a:prstGeom>
          <a:solidFill>
            <a:schemeClr val="accent5">
              <a:lumMod val="20000"/>
              <a:lumOff val="80000"/>
            </a:schemeClr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51A215-A51D-A696-B807-8C91DC7DE3A0}"/>
              </a:ext>
            </a:extLst>
          </p:cNvPr>
          <p:cNvSpPr>
            <a:spLocks noGrp="1"/>
          </p:cNvSpPr>
          <p:nvPr/>
        </p:nvSpPr>
        <p:spPr>
          <a:xfrm>
            <a:off x="8649586" y="2806937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异常案例</a:t>
            </a:r>
            <a:endParaRPr sz="1200" b="1" dirty="0">
              <a:solidFill>
                <a:schemeClr val="accent5">
                  <a:lumMod val="7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022151F-CB21-CF18-E035-A31BC79047D8}"/>
              </a:ext>
            </a:extLst>
          </p:cNvPr>
          <p:cNvSpPr>
            <a:spLocks noGrp="1"/>
          </p:cNvSpPr>
          <p:nvPr/>
        </p:nvSpPr>
        <p:spPr>
          <a:xfrm>
            <a:off x="8649586" y="3111737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PAPER CRAFT,</a:t>
            </a:r>
          </a:p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LITTLE BIRDIE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D5C454F-36E4-F18A-914D-EF3529261407}"/>
              </a:ext>
            </a:extLst>
          </p:cNvPr>
          <p:cNvSpPr>
            <a:spLocks noGrp="1"/>
          </p:cNvSpPr>
          <p:nvPr/>
        </p:nvSpPr>
        <p:spPr>
          <a:xfrm>
            <a:off x="8649586" y="3816587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毛销售额</a:t>
            </a:r>
            <a:r>
              <a:rPr sz="1100" b="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£168,470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066B76-D3EF-0723-D265-4FA7E56836F9}"/>
              </a:ext>
            </a:extLst>
          </p:cNvPr>
          <p:cNvSpPr>
            <a:spLocks noGrp="1"/>
          </p:cNvSpPr>
          <p:nvPr/>
        </p:nvSpPr>
        <p:spPr>
          <a:xfrm>
            <a:off x="8649586" y="4064237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退货 £168,470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427E6D-DE22-D324-3BFD-24FFACD694DE}"/>
              </a:ext>
            </a:extLst>
          </p:cNvPr>
          <p:cNvSpPr>
            <a:spLocks noGrp="1"/>
          </p:cNvSpPr>
          <p:nvPr/>
        </p:nvSpPr>
        <p:spPr>
          <a:xfrm>
            <a:off x="8649586" y="4311887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净销售额 £0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97F76AA-6D87-CD48-94B1-44655FAB3B9A}"/>
              </a:ext>
            </a:extLst>
          </p:cNvPr>
          <p:cNvSpPr>
            <a:spLocks noGrp="1"/>
          </p:cNvSpPr>
          <p:nvPr/>
        </p:nvSpPr>
        <p:spPr>
          <a:xfrm>
            <a:off x="8649586" y="4578587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88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788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按毛额排名会误判为第 2 畅销品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DAA8A07-49A3-3288-EC5E-AD7A96D53744}"/>
              </a:ext>
            </a:extLst>
          </p:cNvPr>
          <p:cNvSpPr>
            <a:spLocks noGrp="1"/>
          </p:cNvSpPr>
          <p:nvPr/>
        </p:nvSpPr>
        <p:spPr>
          <a:xfrm>
            <a:off x="8420986" y="5150087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结构判断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7B8696-33EE-83FA-148B-B19FE22B8979}"/>
              </a:ext>
            </a:extLst>
          </p:cNvPr>
          <p:cNvSpPr>
            <a:spLocks noGrp="1"/>
          </p:cNvSpPr>
          <p:nvPr/>
        </p:nvSpPr>
        <p:spPr>
          <a:xfrm>
            <a:off x="8420986" y="5454887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938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marL="228600" indent="-114300">
              <a:spcAft>
                <a:spcPts val="700"/>
              </a:spcAft>
              <a:buChar char="•"/>
              <a:defRPr sz="938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Top 20 </a:t>
            </a:r>
            <a:r>
              <a:rPr sz="11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商品只贡献</a:t>
            </a: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12.1% </a:t>
            </a:r>
            <a:r>
              <a:rPr sz="11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净销售额</a:t>
            </a: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228600" indent="-114300">
              <a:spcAft>
                <a:spcPts val="700"/>
              </a:spcAft>
              <a:buChar char="•"/>
              <a:defRPr sz="938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A </a:t>
            </a:r>
            <a:r>
              <a:rPr sz="11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类商品</a:t>
            </a: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832 </a:t>
            </a:r>
            <a:r>
              <a:rPr sz="11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个，贡献</a:t>
            </a: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80% </a:t>
            </a:r>
            <a:r>
              <a:rPr sz="11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净销售额</a:t>
            </a: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228600" indent="-114300">
              <a:spcAft>
                <a:spcPts val="700"/>
              </a:spcAft>
              <a:buChar char="•"/>
              <a:defRPr sz="938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组合较分散，运营重点应放在类目和客户，而非押注单品</a:t>
            </a:r>
            <a:r>
              <a:rPr sz="11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1">
            <a:extLst>
              <a:ext uri="{FF2B5EF4-FFF2-40B4-BE49-F238E27FC236}">
                <a16:creationId xmlns:a16="http://schemas.microsoft.com/office/drawing/2014/main" id="{00749414-99B0-E0C9-D87E-2CCB1FD2B4F9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74445A-4D9A-3630-8BF6-4E5E4FA89E30}"/>
              </a:ext>
            </a:extLst>
          </p:cNvPr>
          <p:cNvSpPr txBox="1"/>
          <p:nvPr/>
        </p:nvSpPr>
        <p:spPr>
          <a:xfrm>
            <a:off x="5204615" y="1023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三、数据可视化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BF126E-B16C-7716-56B8-EFDBB44383C4}"/>
              </a:ext>
            </a:extLst>
          </p:cNvPr>
          <p:cNvSpPr txBox="1"/>
          <p:nvPr/>
        </p:nvSpPr>
        <p:spPr>
          <a:xfrm>
            <a:off x="2679916" y="1496839"/>
            <a:ext cx="702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详细数据可视面板见文件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online retail 2010-2011 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销售分析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pbix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D7E356-6D5F-59DD-1BCB-EF796F10E297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B25CB9-8BFC-5403-C768-A949175A627E}"/>
              </a:ext>
            </a:extLst>
          </p:cNvPr>
          <p:cNvSpPr txBox="1"/>
          <p:nvPr/>
        </p:nvSpPr>
        <p:spPr>
          <a:xfrm>
            <a:off x="417079" y="2280976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4</a:t>
            </a:r>
            <a:r>
              <a:rPr lang="zh-CN" altLang="en-US" sz="2000" dirty="0"/>
              <a:t>、</a:t>
            </a:r>
            <a:r>
              <a:rPr lang="zh-CN" altLang="zh-CN" sz="2000" dirty="0"/>
              <a:t>类目与退货</a:t>
            </a:r>
            <a:endParaRPr lang="zh-CN" altLang="en-US" sz="2000" dirty="0"/>
          </a:p>
        </p:txBody>
      </p:sp>
      <p:graphicFrame>
        <p:nvGraphicFramePr>
          <p:cNvPr id="19" name="Chart">
            <a:extLst>
              <a:ext uri="{FF2B5EF4-FFF2-40B4-BE49-F238E27FC236}">
                <a16:creationId xmlns:a16="http://schemas.microsoft.com/office/drawing/2014/main" id="{9B378FB1-D3D8-DB79-92BB-EF43FECF2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6637275"/>
              </p:ext>
            </p:extLst>
          </p:nvPr>
        </p:nvGraphicFramePr>
        <p:xfrm>
          <a:off x="652130" y="2681086"/>
          <a:ext cx="6667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F6E7F757-61F6-DF84-CFB3-81144ED715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79592"/>
              </p:ext>
            </p:extLst>
          </p:nvPr>
        </p:nvGraphicFramePr>
        <p:xfrm>
          <a:off x="7700630" y="2909686"/>
          <a:ext cx="3924300" cy="310896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退货金额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退货率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PAPER CRAFT , LITTLE BIRDI…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£168k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MEDIUM CERAMIC TOP STORAGE…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£77k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REGENCY CAKESTAND 3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£10k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68BE230C-2E76-7B84-2455-060E4E8B415B}"/>
              </a:ext>
            </a:extLst>
          </p:cNvPr>
          <p:cNvSpPr>
            <a:spLocks noGrp="1"/>
          </p:cNvSpPr>
          <p:nvPr/>
        </p:nvSpPr>
        <p:spPr>
          <a:xfrm>
            <a:off x="652130" y="6018646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退货金额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£479K；两件商品贡献 £246K，其中一件为整单退货。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A41F756-6678-9A55-B6CF-319454AF04F7}"/>
              </a:ext>
            </a:extLst>
          </p:cNvPr>
          <p:cNvSpPr>
            <a:spLocks noGrp="1"/>
          </p:cNvSpPr>
          <p:nvPr/>
        </p:nvSpPr>
        <p:spPr>
          <a:xfrm>
            <a:off x="652130" y="6384406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优先核查商品质量、尺寸</a:t>
            </a:r>
            <a:r>
              <a:rPr sz="14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4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描述不符和订单录入，而不是对所有商品做统一促销</a:t>
            </a:r>
            <a:r>
              <a:rPr sz="14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B8B5F7-DB5A-CEFA-EA2F-1B9FFD05ADF5}"/>
              </a:ext>
            </a:extLst>
          </p:cNvPr>
          <p:cNvSpPr>
            <a:spLocks noGrp="1"/>
          </p:cNvSpPr>
          <p:nvPr/>
        </p:nvSpPr>
        <p:spPr>
          <a:xfrm>
            <a:off x="7446334" y="6386749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整体退货率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4.67%，Stationery &amp; Party </a:t>
            </a: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达到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21.1%</a:t>
            </a:r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FC4387DF-FC00-E0DD-AF61-FB75DD138176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C4BFC6-4352-46A4-2CF1-04F2BE95786B}"/>
              </a:ext>
            </a:extLst>
          </p:cNvPr>
          <p:cNvSpPr txBox="1"/>
          <p:nvPr/>
        </p:nvSpPr>
        <p:spPr>
          <a:xfrm>
            <a:off x="5204615" y="1023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三、数据可视化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B8B8EE-695C-6576-A4EF-364F9E8AB7CF}"/>
              </a:ext>
            </a:extLst>
          </p:cNvPr>
          <p:cNvSpPr txBox="1"/>
          <p:nvPr/>
        </p:nvSpPr>
        <p:spPr>
          <a:xfrm>
            <a:off x="2679916" y="1496839"/>
            <a:ext cx="702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详细数据可视面板见文件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online retail 2010-2011 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销售分析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pbix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1798E5C-0100-9598-70C7-E55985CE2CCB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C82EFAC-812F-FA22-E5AF-A44EAB41E016}"/>
              </a:ext>
            </a:extLst>
          </p:cNvPr>
          <p:cNvSpPr txBox="1"/>
          <p:nvPr/>
        </p:nvSpPr>
        <p:spPr>
          <a:xfrm>
            <a:off x="417079" y="2280976"/>
            <a:ext cx="1598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5</a:t>
            </a:r>
            <a:r>
              <a:rPr lang="zh-CN" altLang="en-US" sz="2000" dirty="0"/>
              <a:t>、</a:t>
            </a:r>
            <a:r>
              <a:rPr lang="zh-CN" altLang="zh-CN" sz="2000" dirty="0"/>
              <a:t>客户价值</a:t>
            </a:r>
            <a:endParaRPr lang="zh-CN" altLang="en-US" sz="2000" dirty="0"/>
          </a:p>
        </p:txBody>
      </p:sp>
      <p:graphicFrame>
        <p:nvGraphicFramePr>
          <p:cNvPr id="32" name="Chart">
            <a:extLst>
              <a:ext uri="{FF2B5EF4-FFF2-40B4-BE49-F238E27FC236}">
                <a16:creationId xmlns:a16="http://schemas.microsoft.com/office/drawing/2014/main" id="{F8E41565-AB91-B604-7DE5-9CF2B5AF0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8613634"/>
              </p:ext>
            </p:extLst>
          </p:nvPr>
        </p:nvGraphicFramePr>
        <p:xfrm>
          <a:off x="577703" y="2681086"/>
          <a:ext cx="6096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E33BB7F9-F3A2-0315-AEF9-784213F12A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195732"/>
              </p:ext>
            </p:extLst>
          </p:nvPr>
        </p:nvGraphicFramePr>
        <p:xfrm>
          <a:off x="6570923" y="2400744"/>
          <a:ext cx="4965404" cy="3825746"/>
        </p:xfrm>
        <a:graphic>
          <a:graphicData uri="http://schemas.openxmlformats.org/drawingml/2006/table">
            <a:tbl>
              <a:tblPr/>
              <a:tblGrid>
                <a:gridCol w="157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833">
                <a:tc>
                  <a:txBody>
                    <a:bodyPr/>
                    <a:lstStyle/>
                    <a:p>
                      <a:r>
                        <a:t>分层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收入占比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平均订单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平均间隔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33">
                <a:tc>
                  <a:txBody>
                    <a:bodyPr/>
                    <a:lstStyle/>
                    <a:p>
                      <a:r>
                        <a:t>Champions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 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33">
                <a:tc>
                  <a:txBody>
                    <a:bodyPr/>
                    <a:lstStyle/>
                    <a:p>
                      <a:r>
                        <a:t>Loyal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 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33">
                <a:tc>
                  <a:txBody>
                    <a:bodyPr/>
                    <a:lstStyle/>
                    <a:p>
                      <a:r>
                        <a:t>Potential Loyalists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 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33">
                <a:tc>
                  <a:txBody>
                    <a:bodyPr/>
                    <a:lstStyle/>
                    <a:p>
                      <a:r>
                        <a:t>Need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 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33">
                <a:tc>
                  <a:txBody>
                    <a:bodyPr/>
                    <a:lstStyle/>
                    <a:p>
                      <a:r>
                        <a:t>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 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422">
                <a:tc>
                  <a:txBody>
                    <a:bodyPr/>
                    <a:lstStyle/>
                    <a:p>
                      <a:r>
                        <a:t>Hibernating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223 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A974917F-556E-A530-5F00-DF63196327DD}"/>
              </a:ext>
            </a:extLst>
          </p:cNvPr>
          <p:cNvSpPr>
            <a:spLocks noGrp="1"/>
          </p:cNvSpPr>
          <p:nvPr/>
        </p:nvSpPr>
        <p:spPr>
          <a:xfrm>
            <a:off x="577703" y="6178352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复购率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65.3%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438C906-5515-1AD8-65C9-3D7482683B58}"/>
              </a:ext>
            </a:extLst>
          </p:cNvPr>
          <p:cNvSpPr>
            <a:spLocks noGrp="1"/>
          </p:cNvSpPr>
          <p:nvPr/>
        </p:nvSpPr>
        <p:spPr>
          <a:xfrm>
            <a:off x="3054203" y="6178352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Top 10% </a:t>
            </a:r>
            <a:r>
              <a:rPr sz="1400" b="1" dirty="0" err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客户贡献</a:t>
            </a:r>
            <a:r>
              <a:rPr sz="14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 60.2%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83DB4F0-A6FA-364D-BB56-CC58F3C5F51D}"/>
              </a:ext>
            </a:extLst>
          </p:cNvPr>
          <p:cNvSpPr>
            <a:spLocks noGrp="1"/>
          </p:cNvSpPr>
          <p:nvPr/>
        </p:nvSpPr>
        <p:spPr>
          <a:xfrm>
            <a:off x="577703" y="6548236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At Risk 745 人，历史净销售额 £828K，平均 156 天未复购。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C1E101A-21B6-A756-C431-98E86D5E347B}"/>
              </a:ext>
            </a:extLst>
          </p:cNvPr>
          <p:cNvSpPr>
            <a:spLocks noGrp="1"/>
          </p:cNvSpPr>
          <p:nvPr/>
        </p:nvSpPr>
        <p:spPr>
          <a:xfrm>
            <a:off x="577703" y="5824396"/>
            <a:ext cx="1057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21% 的 Champions </a:t>
            </a: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贡献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66% </a:t>
            </a: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的净销售额</a:t>
            </a:r>
            <a:endParaRPr sz="14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A318D96-B718-2E51-F3A1-3321F5682383}"/>
              </a:ext>
            </a:extLst>
          </p:cNvPr>
          <p:cNvSpPr>
            <a:spLocks noGrp="1"/>
          </p:cNvSpPr>
          <p:nvPr/>
        </p:nvSpPr>
        <p:spPr>
          <a:xfrm>
            <a:off x="6570923" y="6412842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客户分析只覆盖</a:t>
            </a:r>
            <a:r>
              <a:rPr sz="105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4,334 </a:t>
            </a:r>
            <a:r>
              <a:rPr sz="105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名可识别客户；匿名交易不进入分子分母</a:t>
            </a:r>
            <a:r>
              <a:rPr sz="105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6B12-CBFF-912C-C550-618782B2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 hidden="1">
            <a:extLst>
              <a:ext uri="{FF2B5EF4-FFF2-40B4-BE49-F238E27FC236}">
                <a16:creationId xmlns:a16="http://schemas.microsoft.com/office/drawing/2014/main" id="{E71ABCC7-FF02-4E59-9433-33C88DCD5B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9052A2AD-ED4B-4CA0-2D4E-BAAF349CE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61043064-8C09-B1D0-5173-EB54AEEA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47C7A4D9-5044-6E4E-AB24-39CDBE31A7B1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43AA96-18BF-5425-19FF-74F5C1206561}"/>
              </a:ext>
            </a:extLst>
          </p:cNvPr>
          <p:cNvSpPr txBox="1"/>
          <p:nvPr/>
        </p:nvSpPr>
        <p:spPr>
          <a:xfrm>
            <a:off x="5204615" y="1023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三、数据可视化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C13DEFC-30F9-DD38-2AA2-4C62A1461DB7}"/>
              </a:ext>
            </a:extLst>
          </p:cNvPr>
          <p:cNvSpPr txBox="1"/>
          <p:nvPr/>
        </p:nvSpPr>
        <p:spPr>
          <a:xfrm>
            <a:off x="2679916" y="1496839"/>
            <a:ext cx="702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详细数据可视面板见文件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online retail 2010-2011 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销售分析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pbix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F073045-A893-0DFE-1AB1-355D36C0664E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28C7D4A-5FAE-F584-1301-30CDD8284D9F}"/>
              </a:ext>
            </a:extLst>
          </p:cNvPr>
          <p:cNvSpPr txBox="1"/>
          <p:nvPr/>
        </p:nvSpPr>
        <p:spPr>
          <a:xfrm>
            <a:off x="417079" y="2280976"/>
            <a:ext cx="1085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6</a:t>
            </a:r>
            <a:r>
              <a:rPr lang="zh-CN" altLang="en-US" sz="2000" dirty="0"/>
              <a:t>、留存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D26AA8-80A8-004C-6E5C-3CF27D98216E}"/>
              </a:ext>
            </a:extLst>
          </p:cNvPr>
          <p:cNvSpPr>
            <a:spLocks noGrp="1"/>
          </p:cNvSpPr>
          <p:nvPr/>
        </p:nvSpPr>
        <p:spPr>
          <a:xfrm>
            <a:off x="7598929" y="286786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首月留存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15%-37%，第 2 </a:t>
            </a: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个月后趋稳</a:t>
            </a:r>
            <a:endParaRPr sz="14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4BBE38-06D5-190E-A158-76D613C413D9}"/>
              </a:ext>
            </a:extLst>
          </p:cNvPr>
          <p:cNvSpPr>
            <a:spLocks noGrp="1"/>
          </p:cNvSpPr>
          <p:nvPr/>
        </p:nvSpPr>
        <p:spPr>
          <a:xfrm>
            <a:off x="7598929" y="3169359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cohort </a:t>
            </a:r>
            <a:r>
              <a:rPr sz="12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看的是同一批首购客户在后续月份是否继续购买</a:t>
            </a:r>
            <a:r>
              <a:rPr sz="12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807CD12-D558-0C3B-7FEE-1276D45052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0430129"/>
              </p:ext>
            </p:extLst>
          </p:nvPr>
        </p:nvGraphicFramePr>
        <p:xfrm>
          <a:off x="417079" y="2843555"/>
          <a:ext cx="7010400" cy="372427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t>首购月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t>2010-12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t>2011-01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t>2011-03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t>2011-06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t>2011-09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A024E9F-4036-3277-0431-E9B3DE036A0C}"/>
              </a:ext>
            </a:extLst>
          </p:cNvPr>
          <p:cNvSpPr>
            <a:spLocks noGrp="1"/>
          </p:cNvSpPr>
          <p:nvPr/>
        </p:nvSpPr>
        <p:spPr>
          <a:xfrm>
            <a:off x="7524501" y="4049102"/>
            <a:ext cx="33909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013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marL="228600" indent="-114300">
              <a:spcAft>
                <a:spcPts val="1100"/>
              </a:spcAft>
              <a:buChar char="•"/>
              <a:defRPr sz="1013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2010-12 cohort </a:t>
            </a: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首月留存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36.5%，</a:t>
            </a: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是全年最高；节日季客户质量更高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228600" indent="-114300">
              <a:spcAft>
                <a:spcPts val="1100"/>
              </a:spcAft>
              <a:buChar char="•"/>
              <a:defRPr sz="1013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2011-01 cohort </a:t>
            </a: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首月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21.9%，第 2 </a:t>
            </a: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个月仍有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26.7%，</a:t>
            </a: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节后退货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换货后仍有复购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228600" indent="-114300">
              <a:spcAft>
                <a:spcPts val="1100"/>
              </a:spcAft>
              <a:buChar char="•"/>
              <a:defRPr sz="1013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新客首单后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 30 </a:t>
            </a:r>
            <a:r>
              <a:rPr sz="1200" dirty="0" err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天是运营窗口；二次触达应优先于泛化促销</a:t>
            </a:r>
            <a:r>
              <a:rPr sz="1200" dirty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F1D8A3-A907-9BE1-0611-5E5B1ED52925}"/>
              </a:ext>
            </a:extLst>
          </p:cNvPr>
          <p:cNvSpPr>
            <a:spLocks noGrp="1"/>
          </p:cNvSpPr>
          <p:nvPr/>
        </p:nvSpPr>
        <p:spPr>
          <a:xfrm>
            <a:off x="7605325" y="3562673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8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留存率</a:t>
            </a:r>
            <a:r>
              <a:rPr sz="12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= 该 cohort 在 M(n) </a:t>
            </a:r>
            <a:r>
              <a:rPr sz="12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仍有购买的客户数</a:t>
            </a:r>
            <a:r>
              <a:rPr sz="12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/ cohort </a:t>
            </a:r>
            <a:r>
              <a:rPr sz="12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人数</a:t>
            </a:r>
            <a:r>
              <a:rPr sz="12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78943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F0C9-EB2C-FA6E-FB6C-B2D826E3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 hidden="1">
            <a:extLst>
              <a:ext uri="{FF2B5EF4-FFF2-40B4-BE49-F238E27FC236}">
                <a16:creationId xmlns:a16="http://schemas.microsoft.com/office/drawing/2014/main" id="{2FCD4BB0-3B91-DF61-8A64-167F910D71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D79816B5-5036-2DFD-5748-A7A4250D3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42A06FF6-2680-77A3-2FA4-132C0FB4D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1415D342-19C5-B228-4CFA-2BCD0750DB60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A40F84-ACB8-7345-6070-C0C6B56911F4}"/>
              </a:ext>
            </a:extLst>
          </p:cNvPr>
          <p:cNvSpPr txBox="1"/>
          <p:nvPr/>
        </p:nvSpPr>
        <p:spPr>
          <a:xfrm>
            <a:off x="5204615" y="102350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三、数据可视化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539578-6D2E-BDDF-D9F1-CD37C054B447}"/>
              </a:ext>
            </a:extLst>
          </p:cNvPr>
          <p:cNvSpPr txBox="1"/>
          <p:nvPr/>
        </p:nvSpPr>
        <p:spPr>
          <a:xfrm>
            <a:off x="2679916" y="1496839"/>
            <a:ext cx="7029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详细数据可视面板见文件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online retail 2010-2011 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销售分析</a:t>
            </a:r>
            <a:r>
              <a:rPr lang="en-US" altLang="zh-CN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pbix</a:t>
            </a:r>
            <a:r>
              <a:rPr lang="zh-CN" altLang="en-US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1B569B-0A31-8DCD-E76B-B6E2918AC108}"/>
              </a:ext>
            </a:extLst>
          </p:cNvPr>
          <p:cNvSpPr>
            <a:spLocks noGrp="1"/>
          </p:cNvSpPr>
          <p:nvPr/>
        </p:nvSpPr>
        <p:spPr>
          <a:xfrm>
            <a:off x="417079" y="2068811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C0DDB66-FFB2-25E7-0291-70EE4A3FB458}"/>
              </a:ext>
            </a:extLst>
          </p:cNvPr>
          <p:cNvSpPr txBox="1"/>
          <p:nvPr/>
        </p:nvSpPr>
        <p:spPr>
          <a:xfrm>
            <a:off x="417079" y="2280976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7</a:t>
            </a:r>
            <a:r>
              <a:rPr lang="zh-CN" altLang="en-US" sz="2000" dirty="0"/>
              <a:t>、</a:t>
            </a:r>
            <a:r>
              <a:rPr lang="zh-CN" altLang="zh-CN" sz="2000" dirty="0"/>
              <a:t>地区与订单结构</a:t>
            </a:r>
            <a:endParaRPr lang="zh-CN" altLang="en-US" sz="20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A7D8FA-1B8A-4D2F-10AC-61779CF98038}"/>
              </a:ext>
            </a:extLst>
          </p:cNvPr>
          <p:cNvSpPr>
            <a:spLocks noGrp="1"/>
          </p:cNvSpPr>
          <p:nvPr/>
        </p:nvSpPr>
        <p:spPr>
          <a:xfrm>
            <a:off x="417079" y="6365433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国际收入占</a:t>
            </a:r>
            <a:r>
              <a:rPr sz="12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14.9%，</a:t>
            </a:r>
            <a:r>
              <a:rPr sz="12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但客户数很少，客单价显著更高</a:t>
            </a:r>
            <a:r>
              <a:rPr sz="12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E0C74C69-2E80-80EF-55AD-350E7E17B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3048448"/>
              </p:ext>
            </p:extLst>
          </p:nvPr>
        </p:nvGraphicFramePr>
        <p:xfrm>
          <a:off x="311889" y="2765425"/>
          <a:ext cx="6858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6EFF9E7-9D1B-7ED2-8318-64FE4E89F05C}"/>
              </a:ext>
            </a:extLst>
          </p:cNvPr>
          <p:cNvSpPr>
            <a:spLocks noGrp="1"/>
          </p:cNvSpPr>
          <p:nvPr/>
        </p:nvSpPr>
        <p:spPr>
          <a:xfrm>
            <a:off x="7550889" y="2765425"/>
            <a:ext cx="3733800" cy="3143250"/>
          </a:xfrm>
          <a:prstGeom prst="roundRect">
            <a:avLst>
              <a:gd name="adj" fmla="val 3636"/>
            </a:avLst>
          </a:prstGeom>
          <a:solidFill>
            <a:srgbClr val="EDF2F7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B02C9D8-27BA-B305-BC67-0F0BF1F4260F}"/>
              </a:ext>
            </a:extLst>
          </p:cNvPr>
          <p:cNvSpPr>
            <a:spLocks noGrp="1"/>
          </p:cNvSpPr>
          <p:nvPr/>
        </p:nvSpPr>
        <p:spPr>
          <a:xfrm>
            <a:off x="7703289" y="2944722"/>
            <a:ext cx="2892136" cy="142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 err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批发型市场</a:t>
            </a:r>
            <a:endParaRPr sz="1100" b="1" dirty="0">
              <a:solidFill>
                <a:schemeClr val="accent5">
                  <a:lumMod val="7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87A09D8-A2A0-1AA1-6295-D5200A480140}"/>
              </a:ext>
            </a:extLst>
          </p:cNvPr>
          <p:cNvSpPr>
            <a:spLocks noGrp="1"/>
          </p:cNvSpPr>
          <p:nvPr/>
        </p:nvSpPr>
        <p:spPr>
          <a:xfrm>
            <a:off x="7703288" y="3222183"/>
            <a:ext cx="1156855" cy="1308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荷兰</a:t>
            </a:r>
            <a:endParaRPr sz="14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0AA873-EEA3-CF30-50FD-4CF7B8050F8E}"/>
              </a:ext>
            </a:extLst>
          </p:cNvPr>
          <p:cNvSpPr>
            <a:spLocks noGrp="1"/>
          </p:cNvSpPr>
          <p:nvPr/>
        </p:nvSpPr>
        <p:spPr>
          <a:xfrm>
            <a:off x="7703289" y="3469833"/>
            <a:ext cx="3181350" cy="1308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£284K · 9 客户 · AOV £3,053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0318BB-FE3A-E747-E535-846AA63F814E}"/>
              </a:ext>
            </a:extLst>
          </p:cNvPr>
          <p:cNvSpPr>
            <a:spLocks noGrp="1"/>
          </p:cNvSpPr>
          <p:nvPr/>
        </p:nvSpPr>
        <p:spPr>
          <a:xfrm>
            <a:off x="7727534" y="3721634"/>
            <a:ext cx="1156855" cy="1308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爱尔兰</a:t>
            </a:r>
            <a:endParaRPr sz="14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84FF01-37B6-4CCB-693D-8DB7D6E44653}"/>
              </a:ext>
            </a:extLst>
          </p:cNvPr>
          <p:cNvSpPr>
            <a:spLocks noGrp="1"/>
          </p:cNvSpPr>
          <p:nvPr/>
        </p:nvSpPr>
        <p:spPr>
          <a:xfrm>
            <a:off x="7727535" y="3969284"/>
            <a:ext cx="3181350" cy="1308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£271K · 3 客户 · AOV £960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CD1985-C7E7-3371-B80F-01016734710B}"/>
              </a:ext>
            </a:extLst>
          </p:cNvPr>
          <p:cNvSpPr>
            <a:spLocks noGrp="1"/>
          </p:cNvSpPr>
          <p:nvPr/>
        </p:nvSpPr>
        <p:spPr>
          <a:xfrm>
            <a:off x="7703287" y="4221085"/>
            <a:ext cx="1156855" cy="1308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英国</a:t>
            </a:r>
            <a:endParaRPr sz="14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DC2E525-CC5F-B8D0-B99E-6F62B5CCE025}"/>
              </a:ext>
            </a:extLst>
          </p:cNvPr>
          <p:cNvSpPr>
            <a:spLocks noGrp="1"/>
          </p:cNvSpPr>
          <p:nvPr/>
        </p:nvSpPr>
        <p:spPr>
          <a:xfrm>
            <a:off x="7703288" y="4468735"/>
            <a:ext cx="3181350" cy="1308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£8.72M · AOV £487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299F609-B1CF-D89D-B254-3249D73CDB31}"/>
              </a:ext>
            </a:extLst>
          </p:cNvPr>
          <p:cNvSpPr>
            <a:spLocks noGrp="1"/>
          </p:cNvSpPr>
          <p:nvPr/>
        </p:nvSpPr>
        <p:spPr>
          <a:xfrm>
            <a:off x="7703288" y="4716385"/>
            <a:ext cx="3181350" cy="2617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3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863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少数客户贡献高收入，需单独制定</a:t>
            </a:r>
            <a:r>
              <a:rPr sz="105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MOQ、账期和售后规则</a:t>
            </a:r>
            <a:r>
              <a:rPr sz="105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291C8D-1362-AA68-D784-A58475139A4A}"/>
              </a:ext>
            </a:extLst>
          </p:cNvPr>
          <p:cNvSpPr>
            <a:spLocks noGrp="1"/>
          </p:cNvSpPr>
          <p:nvPr/>
        </p:nvSpPr>
        <p:spPr>
          <a:xfrm>
            <a:off x="7703287" y="5286701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订单集中在周二至周五</a:t>
            </a:r>
            <a:r>
              <a:rPr sz="1125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10:00-15:00（发票录入时间）。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E94970A-2843-37FE-38E6-6066AD08809C}"/>
              </a:ext>
            </a:extLst>
          </p:cNvPr>
          <p:cNvSpPr>
            <a:spLocks noGrp="1"/>
          </p:cNvSpPr>
          <p:nvPr/>
        </p:nvSpPr>
        <p:spPr>
          <a:xfrm>
            <a:off x="7703287" y="5629601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这可作为客服与发货排班参考，但不能等同于用户浏览高峰</a:t>
            </a:r>
            <a:r>
              <a:rPr sz="9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5B73C1-F357-EE8B-7149-76B6CE851A04}"/>
              </a:ext>
            </a:extLst>
          </p:cNvPr>
          <p:cNvSpPr>
            <a:spLocks noGrp="1"/>
          </p:cNvSpPr>
          <p:nvPr/>
        </p:nvSpPr>
        <p:spPr>
          <a:xfrm>
            <a:off x="417079" y="6025448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英国是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85% </a:t>
            </a: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的基本盘，荷兰</a:t>
            </a:r>
            <a:r>
              <a:rPr sz="14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4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爱尔兰是批发型市场</a:t>
            </a:r>
            <a:endParaRPr sz="14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9867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C54C-B1B6-BA8A-C394-6A5848E4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 hidden="1">
            <a:extLst>
              <a:ext uri="{FF2B5EF4-FFF2-40B4-BE49-F238E27FC236}">
                <a16:creationId xmlns:a16="http://schemas.microsoft.com/office/drawing/2014/main" id="{DA54A837-68E4-C39E-2BCF-3CA7F93DC6D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项目分析幻灯片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F11B58E8-2132-FF6D-1801-8DBD51882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E376BC86-E5E4-1D11-62F7-5FFB294C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08EF456A-FA08-4FD0-D0C0-09EA6E69FE89}"/>
              </a:ext>
            </a:extLst>
          </p:cNvPr>
          <p:cNvSpPr txBox="1">
            <a:spLocks/>
          </p:cNvSpPr>
          <p:nvPr/>
        </p:nvSpPr>
        <p:spPr>
          <a:xfrm>
            <a:off x="228600" y="377825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Online Retail </a:t>
            </a:r>
            <a:r>
              <a:rPr lang="zh-CN" alt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经营分析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C96FFF-CC1C-C387-3EB7-6538A62A246E}"/>
              </a:ext>
            </a:extLst>
          </p:cNvPr>
          <p:cNvSpPr txBox="1"/>
          <p:nvPr/>
        </p:nvSpPr>
        <p:spPr>
          <a:xfrm>
            <a:off x="4562054" y="1017107"/>
            <a:ext cx="3067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四、分析结论、业务建议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F35C9E-C5DF-2738-B0FE-165691A0014A}"/>
              </a:ext>
            </a:extLst>
          </p:cNvPr>
          <p:cNvSpPr>
            <a:spLocks noGrp="1"/>
          </p:cNvSpPr>
          <p:nvPr/>
        </p:nvSpPr>
        <p:spPr>
          <a:xfrm>
            <a:off x="417079" y="1452712"/>
            <a:ext cx="10972800" cy="95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6E5CE6-55F9-2B12-0E77-AAF4767C2F9D}"/>
              </a:ext>
            </a:extLst>
          </p:cNvPr>
          <p:cNvSpPr>
            <a:spLocks noGrp="1"/>
          </p:cNvSpPr>
          <p:nvPr/>
        </p:nvSpPr>
        <p:spPr>
          <a:xfrm>
            <a:off x="569479" y="1603375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三个优先级：守住头部、修复退货、拆分批发</a:t>
            </a:r>
            <a:endParaRPr sz="20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E02FEDD-8920-9AF0-3619-67F1503AB5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589053"/>
              </p:ext>
            </p:extLst>
          </p:nvPr>
        </p:nvGraphicFramePr>
        <p:xfrm>
          <a:off x="569479" y="2327275"/>
          <a:ext cx="10820400" cy="28575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dirty="0" err="1"/>
                        <a:t>优先级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动作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预期影响 / 负责人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B42318"/>
                          </a:solidFill>
                        </a:rPr>
                        <a:t>P0 客户留存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Champions 专属补货与新品优先；At Risk 30 天召回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复购率</a:t>
                      </a:r>
                    </a:p>
                    <a:p>
                      <a:r>
                        <a:t>At Risk 召回率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保护 66% 收入基本盘</a:t>
                      </a:r>
                    </a:p>
                    <a:p>
                      <a:r>
                        <a:t>CRM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D97706"/>
                          </a:solidFill>
                        </a:rPr>
                        <a:t>P1 商品质量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退货与 &gt;80% 退货 SKU 逐项核查；建立退货预警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退货率</a:t>
                      </a:r>
                    </a:p>
                    <a:p>
                      <a:r>
                        <a:t>退货金额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先处理 £246K 异常退货</a:t>
                      </a:r>
                    </a:p>
                    <a:p>
                      <a:r>
                        <a:t>商品 / 运营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F766E"/>
                          </a:solidFill>
                        </a:rPr>
                        <a:t>P2 渠道策略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批发客户与零售客户分群；设置 MOQ、账期、服务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国际收入</a:t>
                      </a:r>
                    </a:p>
                    <a:p>
                      <a:r>
                        <a:t>批发 AOV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把高客单市场做成可复制打法</a:t>
                      </a:r>
                      <a:endParaRPr dirty="0"/>
                    </a:p>
                    <a:p>
                      <a:r>
                        <a:rPr dirty="0" err="1"/>
                        <a:t>销售运营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9DF9C720-67EC-BCE7-F382-42A0BAAC8347}"/>
              </a:ext>
            </a:extLst>
          </p:cNvPr>
          <p:cNvSpPr>
            <a:spLocks noGrp="1"/>
          </p:cNvSpPr>
          <p:nvPr/>
        </p:nvSpPr>
        <p:spPr>
          <a:xfrm>
            <a:off x="2477187" y="557357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落地顺序</a:t>
            </a:r>
            <a:endParaRPr sz="1050" b="1" dirty="0">
              <a:solidFill>
                <a:srgbClr val="526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308A0A-FAB9-B6A7-818E-D5547D0D85D8}"/>
              </a:ext>
            </a:extLst>
          </p:cNvPr>
          <p:cNvSpPr>
            <a:spLocks noGrp="1"/>
          </p:cNvSpPr>
          <p:nvPr/>
        </p:nvSpPr>
        <p:spPr>
          <a:xfrm>
            <a:off x="3609554" y="5556744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周：数据监控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EC8A41-E794-D84C-FCDF-8ADB5103F50B}"/>
              </a:ext>
            </a:extLst>
          </p:cNvPr>
          <p:cNvSpPr>
            <a:spLocks noGrp="1"/>
          </p:cNvSpPr>
          <p:nvPr/>
        </p:nvSpPr>
        <p:spPr>
          <a:xfrm>
            <a:off x="5895554" y="5556744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月：客户分层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2F4023-9D2A-5871-EA43-EBC5914EAA60}"/>
              </a:ext>
            </a:extLst>
          </p:cNvPr>
          <p:cNvSpPr>
            <a:spLocks noGrp="1"/>
          </p:cNvSpPr>
          <p:nvPr/>
        </p:nvSpPr>
        <p:spPr>
          <a:xfrm>
            <a:off x="8181554" y="5556744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季度：渠道策略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43450E-7003-9EC6-264D-5483079D79B2}"/>
              </a:ext>
            </a:extLst>
          </p:cNvPr>
          <p:cNvSpPr>
            <a:spLocks noGrp="1"/>
          </p:cNvSpPr>
          <p:nvPr/>
        </p:nvSpPr>
        <p:spPr>
          <a:xfrm>
            <a:off x="3961487" y="6066168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先用可追溯的数据建立信任，再把分层和策略嵌入现有</a:t>
            </a:r>
            <a:r>
              <a:rPr sz="11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CRM / </a:t>
            </a:r>
            <a:r>
              <a:rPr sz="11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商品</a:t>
            </a:r>
            <a:r>
              <a:rPr sz="11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100" b="0" dirty="0" err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销售流程</a:t>
            </a:r>
            <a:r>
              <a:rPr sz="1100" b="0" dirty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1548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3">
              <a:lumMod val="75000"/>
            </a:schemeClr>
          </a:fgClr>
          <a:bgClr>
            <a:schemeClr val="accent3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zh-CN" altLang="en-US" sz="7200" b="1" dirty="0">
                <a:solidFill>
                  <a:schemeClr val="bg1"/>
                </a:solidFill>
                <a:cs typeface="Malgun Gothic Semilight" panose="020B0502040204020203" pitchFamily="34" charset="-122"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286_TF78455520" id="{4AE470DB-D5C1-4C65-BA40-518832E5445B}" vid="{07FF6017-F241-4564-8821-811B6AC40C8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项目分析，24 张幻灯片</Template>
  <TotalTime>835</TotalTime>
  <Words>1436</Words>
  <Application>Microsoft Office PowerPoint</Application>
  <PresentationFormat>宽屏</PresentationFormat>
  <Paragraphs>326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BIZ UDMincho Medium</vt:lpstr>
      <vt:lpstr>Malgun Gothic Semilight</vt:lpstr>
      <vt:lpstr>Microsoft YaHei UI</vt:lpstr>
      <vt:lpstr>Microsoft YaHei</vt:lpstr>
      <vt:lpstr>Arial</vt:lpstr>
      <vt:lpstr>Office 主题</vt:lpstr>
      <vt:lpstr>Online Retail 经营分析 用 MySQL 清洗数据，用 Power BI 还原经营逻辑， 再把结论变成可执行的产品运营动作。  5 层数据管道 42 个 Power BI 视觉 13 页分析报告  GitHub仓库地址：yyeoly/ecommerce-user-behavior-analysis</vt:lpstr>
      <vt:lpstr>项目分析幻灯片 2</vt:lpstr>
      <vt:lpstr>项目分析幻灯片 3</vt:lpstr>
      <vt:lpstr>项目分析幻灯片 4</vt:lpstr>
      <vt:lpstr>项目分析幻灯片 5</vt:lpstr>
      <vt:lpstr>项目分析幻灯片 6</vt:lpstr>
      <vt:lpstr>项目分析幻灯片 7</vt:lpstr>
      <vt:lpstr>项目分析幻灯片 8</vt:lpstr>
      <vt:lpstr>项目分析幻灯片 10</vt:lpstr>
      <vt:lpstr>项目分析幻灯片 10</vt:lpstr>
      <vt:lpstr>项目分析幻灯片 10</vt:lpstr>
      <vt:lpstr>项目分析幻灯片 10</vt:lpstr>
      <vt:lpstr>感谢观看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艺 曾</dc:creator>
  <cp:lastModifiedBy>艺 曾</cp:lastModifiedBy>
  <cp:revision>2</cp:revision>
  <dcterms:created xsi:type="dcterms:W3CDTF">2026-10-20T02:58:48Z</dcterms:created>
  <dcterms:modified xsi:type="dcterms:W3CDTF">2026-10-20T16:53:52Z</dcterms:modified>
</cp:coreProperties>
</file>